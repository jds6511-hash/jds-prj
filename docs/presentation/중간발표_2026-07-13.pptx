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(자막)</c:v>
                </c:pt>
              </c:strCache>
            </c:strRef>
          </c:tx>
          <c:spPr>
            <a:solidFill>
              <a:srgbClr val="6B7C8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자막형</c:v>
                  </c:pt>
                  <c:pt idx="1">
                    <c:v>장면형</c:v>
                  </c:pt>
                  <c:pt idx="2">
                    <c:v>복합형</c:v>
                  </c:pt>
                  <c:pt idx="3">
                    <c:v>전체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0.958</c:v>
                </c:pt>
                <c:pt idx="1">
                  <c:v>0.174</c:v>
                </c:pt>
                <c:pt idx="2">
                  <c:v>0.825</c:v>
                </c:pt>
                <c:pt idx="3">
                  <c:v>0.649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proposed (자막+캡션)</c:v>
                </c:pt>
              </c:strCache>
            </c:strRef>
          </c:tx>
          <c:spPr>
            <a:solidFill>
              <a:srgbClr val="18B7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자막형</c:v>
                  </c:pt>
                  <c:pt idx="1">
                    <c:v>장면형</c:v>
                  </c:pt>
                  <c:pt idx="2">
                    <c:v>복합형</c:v>
                  </c:pt>
                  <c:pt idx="3">
                    <c:v>전체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0.718</c:v>
                </c:pt>
                <c:pt idx="2">
                  <c:v>0.887</c:v>
                </c:pt>
                <c:pt idx="3">
                  <c:v>0.829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A3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1E2A38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solidFill>
      <a:srgbClr val="F5F8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48840"/>
            <a:ext cx="822960" cy="82296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및 AAR 보고서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시스템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자막(STT) 단독 vs </a:t>
            </a:r>
            <a:pPr indent="0" marL="0">
              <a:buNone/>
            </a:pPr>
            <a:r>
              <a:rPr lang="en-US" sz="16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자막+장면 캡션 결합</a:t>
            </a:r>
            <a:pPr indent="0" marL="0">
              <a:buNone/>
            </a:pPr>
            <a:r>
              <a:rPr lang="en-US" sz="16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정량 비교 — 학습 없는 멀티모달 검색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중간발표</a:t>
            </a:r>
            <a:pPr indent="0" marL="0">
              <a:buNone/>
            </a:pPr>
            <a:r>
              <a:rPr lang="en-US" sz="140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·   정대석   ·   KAIST 김주호 교수님 연구실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영상에서 '그 장면'을 자연어로 찾기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 </a:t>
            </a:r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업로드한 단일 mp4 + 자연어 질의</a:t>
            </a:r>
            <a:pPr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출력  </a:t>
            </a:r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가능한 top-k 세그먼트(정수 초 + 자막)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48840"/>
            <a:ext cx="82296" cy="35661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한계 — 자막만으로 검색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않고 보여주기만 한 장면을 놓친다</a:t>
            </a:r>
            <a:endParaRPr lang="en-US" sz="135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조용히 새우를 부치는 장면, 마트 진열대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질의의 약 1/3이 이 '장면형'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결국 수작업 스크러빙에 의존 — AAR 활용의 병목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214884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2148840"/>
            <a:ext cx="82296" cy="356616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연구 — 자막 + 장면 캡션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8803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VLM이 생성한 '보이는 것' 캡션을 자막과 결합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장면을 캡션이 보완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확장: 질의 없이 영상 전체를 훑어</a:t>
            </a:r>
            <a:endParaRPr lang="en-US" sz="135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인용 [seg#N]이 달린 AAR 리포트 자동 생성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설정: 단일 영상 내 세그먼트 검색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질문 — 자막 단독 대비 자막+장면 캡션 결합이 검색 성능을 얼마나, 어떤 질의 유형에서 개선하는가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109960" cy="914400"/>
        </p:xfrm>
        <a:graphic>
          <a:graphicData uri="http://schemas.openxmlformats.org/drawingml/2006/table">
            <a:tbl>
              <a:tblPr/>
              <a:tblGrid>
                <a:gridCol w="5550408"/>
                <a:gridCol w="55595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 것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B7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할 것 (향후과제)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업로드 영상 내 segment retrieval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corpus-level VCMR(교차 영상 검색)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없는(frozen) 임베딩 코사인 검색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검색기 학습 (PREM / contrastive)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한국어 vlog · 온프레미스(6GB GPU)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오디오 제3 모달리티 (SMART)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자막·캡션 이중 인덱스 + α 가중 결합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가변 분할 학습부 (EventFormer)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기여는 대규모 벤치마크 수립이 아니라, 제약 환경에서 '학습 없이 차용 가능한 설계 결정'만 골라 통합·검증하는 것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개요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방법: 9단계 파이프라인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모듈 = 독립 CLI · 멱등 · 중간 산출물 전부 파일(JSON/NPY)로 보존 → 부분 재실행·재현성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5초 분할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75104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57984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157984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5" name="Text 13"/>
          <p:cNvSpPr/>
          <p:nvPr/>
        </p:nvSpPr>
        <p:spPr>
          <a:xfrm>
            <a:off x="2157984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157984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프레임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motion score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84448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67328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67328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20" name="Text 18"/>
          <p:cNvSpPr/>
          <p:nvPr/>
        </p:nvSpPr>
        <p:spPr>
          <a:xfrm>
            <a:off x="3767328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767328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자막(STT)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캡션(VLM)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93792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76672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76672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25" name="Text 23"/>
          <p:cNvSpPr/>
          <p:nvPr/>
        </p:nvSpPr>
        <p:spPr>
          <a:xfrm>
            <a:off x="5376672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376672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임베딩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KURE-v1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03136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86016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86016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30" name="Text 28"/>
          <p:cNvSpPr/>
          <p:nvPr/>
        </p:nvSpPr>
        <p:spPr>
          <a:xfrm>
            <a:off x="6986016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86016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정규화+α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검색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412480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595360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35" name="Text 33"/>
          <p:cNvSpPr/>
          <p:nvPr/>
        </p:nvSpPr>
        <p:spPr>
          <a:xfrm>
            <a:off x="8595360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95360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Hit@k·MRR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021824" y="2148840"/>
            <a:ext cx="201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</a:rPr>
              <a:t>▶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04704" y="2148840"/>
            <a:ext cx="144475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04704" y="2148840"/>
            <a:ext cx="1444752" cy="38404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40" name="Text 38"/>
          <p:cNvSpPr/>
          <p:nvPr/>
        </p:nvSpPr>
        <p:spPr>
          <a:xfrm>
            <a:off x="10204704" y="214884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0204704" y="260604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UI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데모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3977640"/>
            <a:ext cx="11109960" cy="91440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22960" y="3977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(제2부)   </a:t>
            </a:r>
            <a:pPr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M8  AAR 리포트 생성(인용 강제 [seg#N])      →      M9  이중 평가(Coverage · Groundedness)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48640" y="5212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스택:  Whisper large-v3 (STT)   ·   Qwen2.5-VL-3B 4bit (캡션)   ·   KURE-v1 (임베딩)   —  전부 오픈소스·온프레미스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① 5초 고정 분할 + 대표 프레임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45920"/>
            <a:ext cx="82296" cy="12344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79222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5초 고정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931920" y="179222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EventFormer의 분할 전략 비교에서 DiDeMo(5초) 고정 window가 최우수 — 근거 있는 기본값. 자체 ablation으로 재확인(뒤 슬라이드)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063240"/>
            <a:ext cx="82296" cy="12344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0954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대표 프레임 선택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31920" y="320954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SMART 차용: 프레임 차분 L2 + 가우시안 평활 후 argmax → 중간 프레임보다 정보량 많은 '가장 동적인' 프레임을 캡션 재료로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480560"/>
            <a:ext cx="82296" cy="12344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62686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걸친 발화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31920" y="462686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 word-level timestamp로 오버랩 귀속(경계 문장 양쪽 중복 허용)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② 자막 + 캡션 이중 인덱스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VLM은 캡션 '생성기'로만 (frozen). </a:t>
            </a:r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자막·캡션·질의를 동일 임베딩 모델의 코사인 유사도로 수행.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3566160" cy="5029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94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자막 (s_sub)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것 — Whisper STT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구어체, 발화 있는 구간만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25112" y="219456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5112" y="2194560"/>
            <a:ext cx="3566160" cy="5029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25112" y="2194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캡션 (s_cap)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07992" y="28803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 — VLM 한 문장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장면을 커버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01584" y="219456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01584" y="2194560"/>
            <a:ext cx="3566160" cy="50292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8" name="Text 16"/>
          <p:cNvSpPr/>
          <p:nvPr/>
        </p:nvSpPr>
        <p:spPr>
          <a:xfrm>
            <a:off x="8101584" y="2194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질의 (q)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28803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자연어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공간에서 코사인 비교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800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근거   </a:t>
            </a:r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Video Enriched RAG(자막+캡션 결합 우수) · LMR/SG-VLM(frozen 캡션 검색 선례).  캡션 언어 = 질의 언어 = 한국어 원칙(임베딩 언어 불일치 회피)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③ 확정 연산 순서: 정규화 → 치환 → 결합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자막·캡션 유사도는 분포가 달라 그대로 합치면 α 실험이 왜곡된다 — 순서 고정이 실험 타당성의 전제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194560"/>
            <a:ext cx="25146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23060" y="2423160"/>
            <a:ext cx="640080" cy="64008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0" name="Text 8"/>
          <p:cNvSpPr/>
          <p:nvPr/>
        </p:nvSpPr>
        <p:spPr>
          <a:xfrm>
            <a:off x="16230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코사인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s_sub, s_cap 계산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(L2 정규화 벡터)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00400" y="2194560"/>
            <a:ext cx="320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520440" y="2194560"/>
            <a:ext cx="25146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57700" y="2423160"/>
            <a:ext cx="640080" cy="64008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6" name="Text 14"/>
          <p:cNvSpPr/>
          <p:nvPr/>
        </p:nvSpPr>
        <p:spPr>
          <a:xfrm>
            <a:off x="44577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52044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정규화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1188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채널별 표준화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(단일 영상 범위)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35040" y="2194560"/>
            <a:ext cx="320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355080" y="2194560"/>
            <a:ext cx="25146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292340" y="2423160"/>
            <a:ext cx="640080" cy="64008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2" name="Text 20"/>
          <p:cNvSpPr/>
          <p:nvPr/>
        </p:nvSpPr>
        <p:spPr>
          <a:xfrm>
            <a:off x="72923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5508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정적 치환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4652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정적 세그: s_cap ← s_sub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(치환 off = thr 0 확정)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869680" y="2194560"/>
            <a:ext cx="320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189720" y="2194560"/>
            <a:ext cx="25146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126980" y="2423160"/>
            <a:ext cx="640080" cy="64008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8" name="Text 26"/>
          <p:cNvSpPr/>
          <p:nvPr/>
        </p:nvSpPr>
        <p:spPr>
          <a:xfrm>
            <a:off x="101269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18972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α 가중합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8116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score = α·s_sub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(1−α)·s_cap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85800" y="4434840"/>
            <a:ext cx="10817352" cy="128016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60120" y="443484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개정 (실측 근거)   </a:t>
            </a:r>
            <a:pPr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min-max → z-score:  min-max는 per-query 극값이 유효 범위를 압축해 dev에서 유의 손실. z-score 채택 후 </a:t>
            </a:r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MRR 0.7953 → 0.8286</a:t>
            </a:r>
            <a:pPr indent="0" marL="0"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(dev 비교→승인→dev α 재탐색→test 재평가 절차 준수)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설계: 질의셋과 지표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질의셋 (프레임 실물 검증 라벨)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28600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868680"/>
                <a:gridCol w="2331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자막/장면/복합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dev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/ 38 / 34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test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/ 13 / 14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 / 51 / 48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68680" y="42062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dev/test는 영상 단위 분리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라벨은 캡션 불신 · 프레임 실물 검증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test는 확정 config로 평가, 튜닝 접촉 0회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3796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주지표 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Hit@{1,5,10} · MRR (세그먼트 인덱스 기반)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정답이 격자 경계를 가로지르면 IoU가 구조적으로 불리 → 인덱스 Hit@k로 흡수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보조 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IoU@0.5/0.3 (선행연구 비교용)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분석 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 유형별 분리 집계 — '장면 결합이 어떤 유형에서 이득/손해인가'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공정성과 누수 차단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45920"/>
            <a:ext cx="82296" cy="39319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= 동일 파이프라인의 α=1.0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코드 경로 금지 — 정규화·치환 인프라 완전 동일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α 하나뿐 → 비교가 대칭적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정적 치환은 α=1.0에서 수학적 무영향(불이익 없음)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세그도 빈 문자열 그대로 임베딩(대칭성)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645920"/>
            <a:ext cx="82296" cy="393192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dev/test 분리 + α 고정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29400" y="23774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α grid search 0~1(0.1 간격) — MRR 기준, dev에서만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부트스트랩 CI로 통계적 동률집합(tie_set) 선택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확정: α*=0.5 (tie_set [0.2, 0.4, 0.5])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M6에 test로 α를 재탐색하는 코드 경로 자체가 없음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재현성: config.yaml 단일 출처 · seed 42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결과: test 39건 (확정 config)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MRR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0.649 </a:t>
            </a:r>
            <a:pPr algn="ctr"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0.829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CI [+0.058, +0.310]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배제 · 유의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29000" y="16916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Hit@1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240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0.564 </a:t>
            </a:r>
            <a:pPr algn="ctr"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0.769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CI [+0.077, +0.359]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배제 · 유의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6916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0936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장면형 MRR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240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0.174 </a:t>
            </a:r>
            <a:pPr algn="ctr"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0.718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사각지대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개선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89720" y="1691640"/>
            <a:ext cx="2468880" cy="196596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169164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포화 21 / 경합 18
</a:t>
            </a:r>
            <a:pPr algn="ctr" indent="0" marL="0">
              <a:buNone/>
            </a:pPr>
            <a:r>
              <a:rPr lang="en-US" sz="11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 구간 MRR
</a:t>
            </a:r>
            <a:pPr algn="ctr" indent="0" marL="0">
              <a:buNone/>
            </a:pPr>
            <a:r>
              <a:rPr lang="en-US" sz="16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0.239 → 0.629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3840480"/>
          <a:ext cx="11109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분석: 무엇이 비자명한 기여인가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00200"/>
            <a:ext cx="82296" cy="109728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70992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장면형 대개선은 '예견된 것'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206240" y="1709928"/>
            <a:ext cx="7269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baseline은 자막 전용이라 무발화 장면을 구조적으로 못 찾음. 개선(0.174→0.718)은 놀라움이 아니라 사각지대의 정량화 — 규모(질의의 1/3)를 수치화한 것이 기여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816352"/>
            <a:ext cx="82296" cy="1097280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26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비자명한 부분: 트레이드오프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206240" y="2926080"/>
            <a:ext cx="7269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캡션을 더해도 자막 강세 유형을 거의 안 해침 — 복합형 0.825→0.887(상승), 자막형 0.958→0.880(소폭 하락). '균형점을 찾았다'가 핵심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32504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032504"/>
            <a:ext cx="82296" cy="109728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14223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일반화 근거: 영상 간 균질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206240" y="4142232"/>
            <a:ext cx="7269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4영상(여행·프로모·요리·테크)의 MRR 개선이 +0.140~+0.153으로 거의 동일 — 특정 영상·장르 의존이 아님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48656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5248656"/>
            <a:ext cx="82296" cy="10972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58384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정직한 한계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206240" y="5358384"/>
            <a:ext cx="7269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hit@5/10은 CI가 0 포함 → 유의 주장 안 함. n=39 검정력 한계 명시. 회귀 사례 2건(it_q07, yn_q09) per-query 공개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고도화: 자체 ablation과 구조 개선 (dev)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00200"/>
            <a:ext cx="82296" cy="196596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7282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Ablation 3종 (전부 자체 재확인)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148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세그먼트 길이: 5초 우세(3/5/10초 중 MRR·장면형 최고)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static_threshold: 0(치환 off) 유의 우세 — 치환이 다큐 정적 구간의 좋은 캡션을 덮음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프롬프트: P0 유지(후보 3종 전부 열세)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600200"/>
            <a:ext cx="82296" cy="1965960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7282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융합 정규화 개선 (반영)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64808" y="2148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min-max → z-score: dev에서 유의 우세 확인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무정규화조차 min-max를 이김 = 정규화가 손실을 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RRF(순위 융합)는 유의 열세 → 코사인 크기 정보 보존 필요(부정 결과)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03320"/>
            <a:ext cx="82296" cy="196596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313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abstention (무관 질의 경고)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" y="425196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max(자막, 캡션) 채널 · τ=0.55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오배제 0/96 · 무관 감지 70%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랭킹·결과 불변, 표시 계층 경고 배너만(은폐 금지)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70332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3703320"/>
            <a:ext cx="82296" cy="1965960"/>
          </a:xfrm>
          <a:prstGeom prst="rect">
            <a:avLst/>
          </a:prstGeom>
          <a:solidFill>
            <a:srgbClr val="8390A0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38313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검증한 대안 (미채택)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64808" y="425196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유형별 α 라우팅: 규칙 분류기 55%로 이득 비유의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임베딩(joint): proposed와 통계적 구분 불가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i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'대안을 실측으로 배제'도 결과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실패 모드와 한계의 3분류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데모 영상 실사용 테스트 — 프레임 실물 검증으로 진단·처방까지 실증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04672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동의어 갭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 '초밥'이 초밥 매대(캡션 '스시')를 21위로 놓침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임베딩이 초밥-스시(0.48)&lt;초밥-김밥(0.75)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처방 실증: 질의 확장으로 21→2위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8745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언급 ≠ 행위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'마늘 다지는 장면' → 자막이 '다진 마늘' 언급한 오답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장면이 없으면 유사도로는 구분 불가(배너 휴리스틱 기각)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처방: VLM 프레임 재검증(오답 기각 4/4)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111099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4406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크기로 해소?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해법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캡션 중국어 드리프트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 8bit — 실측: 4bit 100%→8bit 33% 오염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동의어 갭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 있으나 비보장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질의 확장 (실증됨)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언급 ≠ 행위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무관 (구조 문제)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 재검증 단계 (실증됨, 크기 종속)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48640" y="59436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어떤 한계가 스케일로 풀리고 어떤 게 구조로 풀리는지 실측으로 구분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확장: AAR 리포트 생성과 이중 평가 (M8·M9)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M8 — 리포트 생성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68680" y="2286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인덱스(자막+캡션) 재활용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문장에 [seg#N] 인용 강제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map-reduce(60세그 초과 시), 부분집합 검증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M9 — 이중 평가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83680" y="2286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Coverage(누락) × Groundedness(환각) 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G-Eval식 3단계 CoT judge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report와 다른 패밀리 judge(자기강화 편향 완화)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109960" cy="169164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77640"/>
            <a:ext cx="82296" cy="1691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13308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상태: 설계·구현·단위테스트 완료, 실구동은 서버 GPU 대기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6177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 통제 통과: </a:t>
            </a:r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M9 judge가 오염 리포트를 정확히 groundedness=0으로 판정.   </a:t>
            </a:r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불가 실측: </a:t>
            </a:r>
            <a:pPr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7B는 6GB 초과, 3B는 프롬프트 예시 복사 오염으로 기각 → 서버 7B(또는 8bit) 확보가 선행 조건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현황과 남은 일정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AAR 자동생성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53949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28600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M1~M9 + 웹 UI 전 모듈 구현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140개 통과 · 브라우저 E2E 12체크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 135건 라벨링(프레임 검증)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test 평가 (baseline vs proposed)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ablation 3종 · z-score 개선 · abstention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테스트 → 실패 모드 진단·처방 실증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3949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일정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28600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GPU 확보 → M8·M9 실구동</a:t>
            </a:r>
            <a:endParaRPr lang="en-US" sz="125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7B 캡셔너 · 타 패밀리 judge 비교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드리프트 근본 해소(8bit/큰 모델)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 확장·유형 라우팅 정식 반영 검토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벤치마크 확장(검정력) · 교차 영상 검색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보고서(실험 설정 = config.yaml 전사)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822960" cy="82296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68680" y="2514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수치가 아니라, </a:t>
            </a:r>
            <a:pPr indent="0" marL="0">
              <a:buNone/>
            </a:pPr>
            <a:r>
              <a:rPr lang="en-US" sz="20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것만 정확히 검증했다</a:t>
            </a:r>
            <a:pPr indent="0" marL="0">
              <a:buNone/>
            </a:pPr>
            <a:r>
              <a:rPr lang="en-US" sz="20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기여다.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4EE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dev-only 튜닝 · test 접촉 이력 공개 · 자동 세정 · 재현 가능한 확정 절차 위에서,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4EE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 단일 모달리티의 구조적 사각지대(무발화 장면, 질의의 1/3)를 캡션이 메우면서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4EE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강점을 거의 해치지 않는 균형점을 소표본에서도 신뢰할 수 있게 찾았다.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4892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0.649 → 0.829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5532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MRR (유의)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4840" y="4892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 → 0.72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34840" y="5532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장면형 MRR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01000" y="4892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140 / 12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001000" y="5532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· E2E 통과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장면 검색 및 AAR 보고서 자동 생성 시스템 (중간발표)</dc:title>
  <dc:subject>PptxGenJS Presentation</dc:subject>
  <dc:creator>정대석</dc:creator>
  <cp:lastModifiedBy>정대석</cp:lastModifiedBy>
  <cp:revision>1</cp:revision>
  <dcterms:created xsi:type="dcterms:W3CDTF">2026-07-13T08:53:01Z</dcterms:created>
  <dcterms:modified xsi:type="dcterms:W3CDTF">2026-07-13T08:53:01Z</dcterms:modified>
</cp:coreProperties>
</file>
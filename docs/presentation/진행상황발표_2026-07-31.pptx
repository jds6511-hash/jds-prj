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8B7A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783080"/>
            <a:ext cx="822960" cy="82296"/>
          </a:xfrm>
          <a:prstGeom prst="rect">
            <a:avLst/>
          </a:prstGeom>
          <a:solidFill>
            <a:srgbClr val="18B7A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10515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음성·영상 멀티모달 LLM을 활용한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상황보고서 자동 생성 시스템 구축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68680" y="3794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CFE0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속 </a:t>
            </a:r>
            <a:pPr indent="0" marL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18B7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말(음성)과 화면(영상)</a:t>
            </a:r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CFE0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함께 이해해서, 사람 대신 상황을 정리한 보고서를 쓰는 AI를 만듭니다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6868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진행상황 발표 · 2026-07-31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B7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B7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주 진행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주 한 일 — 왜 '화면 설명' 모델을 바꿔보려 했나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상황보고서 자동 생성 시스템 · 진행상황 발표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49047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시스템에서 가장 약한 부분이 어디인지부터 확인하고, 그 부분을 겨냥해 실험했다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53949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965960"/>
            <a:ext cx="82296" cy="26517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08483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약한 부분 — 화면으로 찾는 질문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2432304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점수 = MRR · 1.0 만점 (1등 1.0, 2등 0.5, 3등 0.33)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14400" y="272491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말로 찾는 질문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0" y="272491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6B7C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0.79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321868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 다 필요한 질문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0" y="321868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6B7C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0.79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371246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화면으로 찾는 질문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0" y="371246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14400" y="42245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연습용 영상 기준. 말없이 보여주기만 한 장면이 유독 낮다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1965960"/>
            <a:ext cx="53949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63640" y="1965960"/>
            <a:ext cx="82296" cy="2651760"/>
          </a:xfrm>
          <a:prstGeom prst="rect">
            <a:avLst/>
          </a:prstGeom>
          <a:solidFill>
            <a:srgbClr val="18B7A6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21214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세운 가설과 후보 모델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29400" y="2578608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질문들은 화면 설명(캡션) 품질에만 의존한다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8B7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눈 역할 모델을 더 좋은 것으로 바꾸면 오를까?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후보 ① VARCO-VISION-2.0 — 국산 영상이해 특화 모델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후보 ② Qwen3-VL-4B — 같은 회사의 최신 세대 모델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800600"/>
            <a:ext cx="11109960" cy="1051560"/>
          </a:xfrm>
          <a:prstGeom prst="rect">
            <a:avLst/>
          </a:prstGeom>
          <a:solidFill>
            <a:srgbClr val="EEF4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4800600"/>
            <a:ext cx="82296" cy="1051560"/>
          </a:xfrm>
          <a:prstGeom prst="rect">
            <a:avLst/>
          </a:prstGeom>
          <a:solidFill>
            <a:srgbClr val="2E7FA6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80060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E7F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 규칙 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실험 모두 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연습용 영상(3개·질문 96개)에서만 비교했고, 채점용 39문항은 건드리지 않았다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기존 화면 설명과 새 화면 설명을 같은 질문·같은 방식으로 나란히 채점해, 순수하게 '설명 품질' 차이만 보이도록 했다.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B7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B7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 결과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 ① VARCO-VISION-2.0 — 국산 영상이해 특화 모델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상황보고서 자동 생성 시스템 · 진행상황 발표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49047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결과: 기대했던 개선이 없었다 — 우연일 수 있는 차이지만 방향이 마이너스   (연습용 영상 96문항 기준)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819656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E7F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점수 = MRR — 정답 장면이 검색 결과 몇 번째에 나오는지. 1등이면 1.0, 2등 0.5, 3등 0.33 (1.0이 만점)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121408"/>
            <a:ext cx="352044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121408"/>
            <a:ext cx="82296" cy="14813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286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말로 찾는 질문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7240" y="26517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6B7C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0.79</a:t>
            </a:r>
            <a:pPr indent="0" marL="0">
              <a:buNone/>
            </a:pPr>
            <a:r>
              <a:rPr lang="en-US" sz="1400" dirty="0">
                <a:solidFill>
                  <a:srgbClr val="6B7C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buNone/>
            </a:pPr>
            <a:r>
              <a:rPr lang="en-US" sz="27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0.63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77240" y="31821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떨어짐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43400" y="2121408"/>
            <a:ext cx="352044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43400" y="2121408"/>
            <a:ext cx="82296" cy="1481328"/>
          </a:xfrm>
          <a:prstGeom prst="rect">
            <a:avLst/>
          </a:prstGeom>
          <a:solidFill>
            <a:srgbClr val="6B7C8E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2286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화면으로 찾는 질문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0" y="26517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6B7C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0.49</a:t>
            </a:r>
            <a:pPr indent="0" marL="0">
              <a:buNone/>
            </a:pPr>
            <a:r>
              <a:rPr lang="en-US" sz="1400" dirty="0">
                <a:solidFill>
                  <a:srgbClr val="6B7C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buNone/>
            </a:pPr>
            <a:r>
              <a:rPr lang="en-US" sz="2700" b="1" dirty="0">
                <a:solidFill>
                  <a:srgbClr val="6B7C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0.49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572000" y="31821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사실상 그대로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38160" y="2121408"/>
            <a:ext cx="352044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38160" y="2121408"/>
            <a:ext cx="82296" cy="14813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8366760" y="2286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 다 필요한 질문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366760" y="26517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6B7C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0.79</a:t>
            </a:r>
            <a:pPr indent="0" marL="0">
              <a:buNone/>
            </a:pPr>
            <a:r>
              <a:rPr lang="en-US" sz="1400" dirty="0">
                <a:solidFill>
                  <a:srgbClr val="6B7C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buNone/>
            </a:pPr>
            <a:r>
              <a:rPr lang="en-US" sz="27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0.77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366760" y="31821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떨어짐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749040"/>
            <a:ext cx="11109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68680" y="385876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장면을 두 모델이 각각 어떻게 설명했나 (발굴 현장 장면)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68680" y="418795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(Qwen2.5-VL)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560320" y="4187952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화면에는 토양으로 이루어진 바닥이 보이며, 바닥 위에는 여러 개의 돌멩이들이 놓여 있습니다…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68680" y="4617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VARCO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560320" y="461772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흙으로 된 들판에서 흰색 선으로 무언가를 표시하고 있는 모습이며, 배경에는 텐트와 산들이 보입니다.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5266944"/>
            <a:ext cx="11109960" cy="868680"/>
          </a:xfrm>
          <a:prstGeom prst="rect">
            <a:avLst/>
          </a:prstGeom>
          <a:solidFill>
            <a:srgbClr val="EEF4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48640" y="5266944"/>
            <a:ext cx="82296" cy="8686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2" name="Text 30"/>
          <p:cNvSpPr/>
          <p:nvPr/>
        </p:nvSpPr>
        <p:spPr>
          <a:xfrm>
            <a:off x="868680" y="5266944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판단: 기각   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정작 노렸던 '화면으로 찾는 질문'은 0.49 → 0.49로 사실상 그대로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고, 오히려 다른 유형이 떨어졌다. 설명이 짧고 구조적이라 검색이 기대하는 문장 형태와 어긋난 것으로 보인다. 이미지 축소 등 우리 쪽 설정 문제인지도 따로 확인했지만 원인이 아니었다.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B7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B7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 결과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 ② Qwen3-VL-4B — 같은 회사의 최신 세대 모델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상황보고서 자동 생성 시스템 · 진행상황 발표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49047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결과: 모든 유형에서 떨어졌다 — 통계적으로도 확실한 하락   (연습용 영상 96문항 기준)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819656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E7F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점수 = MRR — 정답 장면이 검색 결과 몇 번째에 나오는지. 1등이면 1.0, 2등 0.5, 3등 0.33 (1.0이 만점)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121408"/>
            <a:ext cx="352044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121408"/>
            <a:ext cx="82296" cy="14813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286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말로 찾는 질문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7240" y="26517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6B7C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0.79</a:t>
            </a:r>
            <a:pPr indent="0" marL="0">
              <a:buNone/>
            </a:pPr>
            <a:r>
              <a:rPr lang="en-US" sz="1400" dirty="0">
                <a:solidFill>
                  <a:srgbClr val="6B7C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buNone/>
            </a:pPr>
            <a:r>
              <a:rPr lang="en-US" sz="27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77240" y="31821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떨어짐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43400" y="2121408"/>
            <a:ext cx="352044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43400" y="2121408"/>
            <a:ext cx="82296" cy="14813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2286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화면으로 찾는 질문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0" y="26517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6B7C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0.49</a:t>
            </a:r>
            <a:pPr indent="0" marL="0">
              <a:buNone/>
            </a:pPr>
            <a:r>
              <a:rPr lang="en-US" sz="1400" dirty="0">
                <a:solidFill>
                  <a:srgbClr val="6B7C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buNone/>
            </a:pPr>
            <a:r>
              <a:rPr lang="en-US" sz="27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0.38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572000" y="31821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떨어짐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38160" y="2121408"/>
            <a:ext cx="352044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38160" y="2121408"/>
            <a:ext cx="82296" cy="14813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8366760" y="2286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 다 필요한 질문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366760" y="26517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6B7C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0.79</a:t>
            </a:r>
            <a:pPr indent="0" marL="0">
              <a:buNone/>
            </a:pPr>
            <a:r>
              <a:rPr lang="en-US" sz="1400" dirty="0">
                <a:solidFill>
                  <a:srgbClr val="6B7C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buNone/>
            </a:pPr>
            <a:r>
              <a:rPr lang="en-US" sz="27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0.66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366760" y="31821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떨어짐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749040"/>
            <a:ext cx="11109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68680" y="385876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 품질은 좋아 보였지만, 일부에서 같은 단어를 수십 번 반복하는 오작동이 났다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68680" y="418795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(Qwen2.5-VL)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560320" y="4187952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화면에는 토양으로 이루어진 바닥이 보이며, 바닥 위에는 여러 개의 돌멩이들이 놓여 있습니다…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68680" y="45720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F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Qwen3-VL (정상)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560320" y="457200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건조한 흙 위에 돌들이 놓여 있고, 그 위에 흰색 선이 그려져 있는 발굴 현장…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68680" y="49560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Qwen3-VL (오작동)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2560320" y="4956048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창문 너머에 희미한 희미한 희미한 희미한 희미한 희미한 희미한 …  (655개 중 22개에서 발생, 기존은 0개)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48640" y="5532120"/>
            <a:ext cx="11109960" cy="777240"/>
          </a:xfrm>
          <a:prstGeom prst="rect">
            <a:avLst/>
          </a:prstGeom>
          <a:solidFill>
            <a:srgbClr val="EEF4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4" name="Text 32"/>
          <p:cNvSpPr/>
          <p:nvPr/>
        </p:nvSpPr>
        <p:spPr>
          <a:xfrm>
            <a:off x="868680" y="55321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판단: 기각   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 자체는 오히려 더 정확한 경우도 있었지만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반복 오작동이 섞이면 그 장면은 검색에서 사실상 버려진다. 여기에 문체 차이까지 겹쳐 전체 정확도가 0.67 → 0.54로 떨어졌다.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B7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B7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실험에서 배운 것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상황보고서 자동 생성 시스템 · 진행상황 발표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49047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'더 좋다고 알려진 모델'로 바꾸는 것만으로는 이 시스템이 좋아지지 않는다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35204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011680"/>
            <a:ext cx="82296" cy="23774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Shape 8"/>
          <p:cNvSpPr/>
          <p:nvPr/>
        </p:nvSpPr>
        <p:spPr>
          <a:xfrm>
            <a:off x="804672" y="219456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04672" y="28346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순위표 성적 ≠ 우리 작업 성적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04672" y="354787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후보 모두 일반 성능표에서는 상위권이다. 하지만 우리가 필요한 건 '한 문장 한국어 설명'이라는 아주 좁은 작업이고, 여기서는 밀렸다.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43400" y="2011680"/>
            <a:ext cx="35204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43400" y="2011680"/>
            <a:ext cx="82296" cy="2377440"/>
          </a:xfrm>
          <a:prstGeom prst="rect">
            <a:avLst/>
          </a:prstGeom>
          <a:solidFill>
            <a:srgbClr val="2E7FA6"/>
          </a:solidFill>
          <a:ln/>
        </p:spPr>
      </p:sp>
      <p:sp>
        <p:nvSpPr>
          <p:cNvPr id="16" name="Shape 14"/>
          <p:cNvSpPr/>
          <p:nvPr/>
        </p:nvSpPr>
        <p:spPr>
          <a:xfrm>
            <a:off x="4599432" y="2194560"/>
            <a:ext cx="548640" cy="548640"/>
          </a:xfrm>
          <a:prstGeom prst="ellipse">
            <a:avLst/>
          </a:prstGeom>
          <a:solidFill>
            <a:srgbClr val="2E7FA6"/>
          </a:solidFill>
          <a:ln/>
        </p:spPr>
      </p:sp>
      <p:sp>
        <p:nvSpPr>
          <p:cNvPr id="17" name="Text 15"/>
          <p:cNvSpPr/>
          <p:nvPr/>
        </p:nvSpPr>
        <p:spPr>
          <a:xfrm>
            <a:off x="4599432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99432" y="28346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 지시문은 모델마다 다시 맞춰야 한다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99432" y="354787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쓰는 설명 지시문은 기존 모델에 맞춰 고른 것이다. 모델을 바꾸면 이것도 다시 맞춰야 하는데, 그대로 이식해서 불리했다.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138160" y="2011680"/>
            <a:ext cx="35204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138160" y="2011680"/>
            <a:ext cx="82296" cy="2377440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22" name="Shape 20"/>
          <p:cNvSpPr/>
          <p:nvPr/>
        </p:nvSpPr>
        <p:spPr>
          <a:xfrm>
            <a:off x="8394192" y="2194560"/>
            <a:ext cx="548640" cy="548640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23" name="Text 21"/>
          <p:cNvSpPr/>
          <p:nvPr/>
        </p:nvSpPr>
        <p:spPr>
          <a:xfrm>
            <a:off x="8394192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394192" y="28346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품질이 좋아도 안정성이 깨지면 손해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394192" y="354787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Qwen3-VL은 설명이 더 정확한 경우도 있었지만, 22개에서 난 반복 오작동이 이득을 상쇄했다.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4617720"/>
            <a:ext cx="11109960" cy="1188720"/>
          </a:xfrm>
          <a:prstGeom prst="rect">
            <a:avLst/>
          </a:prstGeom>
          <a:solidFill>
            <a:srgbClr val="EEF4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" y="4617720"/>
            <a:ext cx="82296" cy="1188720"/>
          </a:xfrm>
          <a:prstGeom prst="rect">
            <a:avLst/>
          </a:prstGeom>
          <a:solidFill>
            <a:srgbClr val="18B7A6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461772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8B7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다음은 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주 랩실 서버 GPU 사용이 확정됐다. 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문체가 바뀔 위험이 없는 같은 계열의 더 큰 모델(Qwen2.5-VL-7B)부터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시도하고, 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최신 세대(Qwen3-VL)는 설명 지시문까지 그 모델에 맞게 새로 설계한 파이프라인으로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별도 시도한다 — 이번에 배운 두 번째·세 번째 교훈을 그대로 반영한 계획이다.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B7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B7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상태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상황보고서 자동 생성 — 아직 실행 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상황보고서 자동 생성 시스템 · 진행상황 발표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연구의 최종 목표지만, </a:t>
            </a:r>
            <a:pPr indent="0" marL="0">
              <a:buNone/>
            </a:pPr>
            <a:r>
              <a:rPr lang="en-US" sz="145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GPU 한계로 실제 실행은 아직 못 했다</a:t>
            </a:r>
            <a:pPr indent="0" marL="0">
              <a:buNone/>
            </a:pPr>
            <a:r>
              <a:rPr lang="en-US" sz="14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솔직하게 밝힌다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53949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148840"/>
            <a:ext cx="82296" cy="32918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3042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아직 못 했나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78892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보고서를 쓰려면 더 큰 언어모델(LLM)이 필요하다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쓸 수 있는 GPU는 6GB — 필요한 크기의 모델을 올리면 용량 초과</a:t>
            </a:r>
            <a:endParaRPr lang="en-US" sz="1250" dirty="0"/>
          </a:p>
          <a:p>
            <a:pPr lvl="1" marL="6858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작은 모델로 낮춰서 시도해봤지만, 결과 품질이 크게 떨어지는 것을 확인(예시 문장을 베끼는 등)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8B7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이번 주 랩실 서버 GPU 사용이 확정돼, 다음 주부터 실행 가능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63640" y="2148840"/>
            <a:ext cx="53949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640" y="2148840"/>
            <a:ext cx="82296" cy="3291840"/>
          </a:xfrm>
          <a:prstGeom prst="rect">
            <a:avLst/>
          </a:prstGeom>
          <a:solidFill>
            <a:srgbClr val="18B7A6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23042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무엇은 이미 준비됐나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29400" y="278892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보고서를 어떻게 쓰게 할지 설계 완료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문장에 근거(몇 분 몇 초)를 붙이도록 코드 작성 완료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완성된 보고서를 자동으로 채점하는 도구도 미리 만들어둠</a:t>
            </a:r>
            <a:endParaRPr lang="en-US" sz="125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(빠진 내용 없는지 / 근거 없이 지어내지 않았는지)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8B7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실제로 돌려보는 것만 남았다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B7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B7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단계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앞으로 2주 계획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상황보고서 자동 생성 시스템 · 진행상황 발표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49047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랩실 서버 GPU 사용이 확정됐다 — 그동안 GPU 때문에 막혀 있던 항목부터 순서대로 처리한다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11109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103120"/>
            <a:ext cx="82296" cy="868680"/>
          </a:xfrm>
          <a:prstGeom prst="rect">
            <a:avLst/>
          </a:prstGeom>
          <a:solidFill>
            <a:srgbClr val="18B7A6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2382012"/>
            <a:ext cx="960120" cy="310896"/>
          </a:xfrm>
          <a:prstGeom prst="rect">
            <a:avLst/>
          </a:prstGeom>
          <a:solidFill>
            <a:srgbClr val="18B7A6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38201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1주차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920240" y="21945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캡션 모델 크기 키우기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000" y="219456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계열의 더 큰 모델(Qwen2.5-VL-7B)을 양자화 없이 올려, 화면 설명 품질과 검색 정확도가 오르는지 확인한다.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090672"/>
            <a:ext cx="11109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090672"/>
            <a:ext cx="82296" cy="868680"/>
          </a:xfrm>
          <a:prstGeom prst="rect">
            <a:avLst/>
          </a:prstGeom>
          <a:solidFill>
            <a:srgbClr val="18B7A6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3369564"/>
            <a:ext cx="960120" cy="310896"/>
          </a:xfrm>
          <a:prstGeom prst="rect">
            <a:avLst/>
          </a:prstGeom>
          <a:solidFill>
            <a:srgbClr val="18B7A6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36956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1주차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920240" y="318211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최신 세대 모델 재도전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572000" y="3182112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Qwen3-VL을 설명 방식(프롬프트)부터 이 모델에 맞게 다시 설계한 새 파이프라인으로 별도 시도한다.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078224"/>
            <a:ext cx="11109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4078224"/>
            <a:ext cx="82296" cy="868680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22" name="Shape 20"/>
          <p:cNvSpPr/>
          <p:nvPr/>
        </p:nvSpPr>
        <p:spPr>
          <a:xfrm>
            <a:off x="822960" y="4357116"/>
            <a:ext cx="960120" cy="310896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357116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2주차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920240" y="4169664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상황보고서 실제 생성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572000" y="4169664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GPU 한계로 못 하던 2단계를 처음 실행한다 — 큰 언어모델로 근거(시각)를 붙인 보고서를 생성.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5065776"/>
            <a:ext cx="11109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" y="5065776"/>
            <a:ext cx="82296" cy="868680"/>
          </a:xfrm>
          <a:prstGeom prst="rect">
            <a:avLst/>
          </a:prstGeom>
          <a:solidFill>
            <a:srgbClr val="2E7FA6"/>
          </a:solidFill>
          <a:ln/>
        </p:spPr>
      </p:sp>
      <p:sp>
        <p:nvSpPr>
          <p:cNvPr id="28" name="Shape 26"/>
          <p:cNvSpPr/>
          <p:nvPr/>
        </p:nvSpPr>
        <p:spPr>
          <a:xfrm>
            <a:off x="822960" y="5344668"/>
            <a:ext cx="960120" cy="310896"/>
          </a:xfrm>
          <a:prstGeom prst="rect">
            <a:avLst/>
          </a:prstGeom>
          <a:solidFill>
            <a:srgbClr val="2E7FA6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534466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2주차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920240" y="5157216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보고서 품질 검증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4572000" y="5157216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미리 만들어 둔 자동 채점 도구로 평가하고(빠진 내용·지어낸 내용), 일부는 사람이 표본 확인한다.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6144768"/>
            <a:ext cx="11109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모델 교체 실험은 연습용 영상에서만 비교한 뒤, 확실히 좋아진 경우에만 채점용 평가로 넘어간다.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8B7A6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280160"/>
            <a:ext cx="822960" cy="82296"/>
          </a:xfrm>
          <a:prstGeom prst="rect">
            <a:avLst/>
          </a:prstGeom>
          <a:solidFill>
            <a:srgbClr val="18B7A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630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68680" y="24688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CFE0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1단계(장면 찾기)는 </a:t>
            </a:r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18B7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완성하고 성능까지 확인했고,</a:t>
            </a:r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CFE0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2단계(상황보고서 자동생성)는 설계를 마친 상태다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3429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4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랩실 서버 GPU 사용이 확정됐다 — 앞으로 2주간 더 큰 모델로 상황보고서를 실제 생성하고 품질까지 검증한다.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68680" y="45262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8B7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0.65 → 0.83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68680" y="519379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B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1단계 · 검색 정확도 (채점용 39문항)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34840" y="45262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B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설계 완료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434840" y="519379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B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2단계 · 상황보고서 생성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01000" y="45262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B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GPU 확보 완료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001000" y="519379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B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2단계 · 2주 내 실행 예정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6172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B0C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 &amp; A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통합 상황보고서 자동 생성 시스템 (진행상황 발표)</dc:title>
  <dc:subject>PptxGenJS Presentation</dc:subject>
  <dc:creator>PptxGenJS</dc:creator>
  <cp:lastModifiedBy>PptxGenJS</cp:lastModifiedBy>
  <cp:revision>1</cp:revision>
  <dcterms:created xsi:type="dcterms:W3CDTF">2026-07-30T08:02:43Z</dcterms:created>
  <dcterms:modified xsi:type="dcterms:W3CDTF">2026-07-30T08:02:43Z</dcterms:modified>
</cp:coreProperties>
</file>
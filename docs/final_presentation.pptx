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234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국방 AI·SW 프로젝트 과정 · 최종발표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1783080"/>
            <a:ext cx="822960" cy="82296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한국어 영상 모먼트 검색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686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19.   ·   정대석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B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목표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목표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11109960" cy="1051560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81328"/>
            <a:ext cx="82296" cy="105156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600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영상에서 원하는 장면을 자연어로 빠르게 검색하고,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전체 내용을 요약한 보고서까지 생성하는 시스템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4406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788920"/>
            <a:ext cx="82296" cy="26060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944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검색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 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785616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무엇을 찾을지 아는 사용자가 한국어 문장으로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질문하면, 영상 속에서 가장 관련 있는 장면을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보여준다.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일치하는 장면이 없으면 "해당 장면 없음"이라고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알려준다 — 억지로 답을 만들지 않는다.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788920"/>
            <a:ext cx="54406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2788920"/>
            <a:ext cx="82296" cy="260604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29443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영상 보고서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3364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이해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37960" y="3785616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찾을지 아직 모르는 사용자가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전체 흐름을 먼저 본다. 화면에서 본 것과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내용을 함께 읽어 사건 단위로 정리한다.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보고 개요 · 영상 개요 · 세부 관찰 내용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5623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질문이 있을 때, 보고서는 질문이 없을 때 쓰는 기능이다 — 두 기능은 서로의 대체재가 아니라 짝이다.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군 활용성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부대에 필요한가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109960" cy="841248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82296" cy="84124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1481328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되감기하며 확인하던 일을, 한국어 문장 한 줄로 끝낸다.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35844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395728"/>
            <a:ext cx="3584448" cy="566928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2" name="Text 10"/>
          <p:cNvSpPr/>
          <p:nvPr/>
        </p:nvSpPr>
        <p:spPr>
          <a:xfrm>
            <a:off x="1207008" y="2395728"/>
            <a:ext cx="2807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사후검토(AAR) 지원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3232" y="250545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172968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훈련 · 연습 영상에서 특정 상황을 문장으로 찾아 되짚는다. 요약 보고서가 근거 구간과 함께 초안을 만든다.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4553712"/>
            <a:ext cx="3035808" cy="18288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63440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예시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2960" y="4901184"/>
            <a:ext cx="3035808" cy="411480"/>
          </a:xfrm>
          <a:prstGeom prst="roundRect">
            <a:avLst>
              <a:gd name="adj" fmla="val 22222"/>
            </a:avLst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01184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"차량이 검문소를 통과하는 장면"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5968" y="2395728"/>
            <a:ext cx="35844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2395728"/>
            <a:ext cx="3584448" cy="5669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2395728"/>
            <a:ext cx="2807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영상 검색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250545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480560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B7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90288" y="3172968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감시 · 정찰 영상처럼 말이 거의 없는 자료도 화면 채널만으로 검색된다 — 자막 검색이 무력한 영역이다.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90288" y="4553712"/>
            <a:ext cx="3035808" cy="18288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27" name="Text 25"/>
          <p:cNvSpPr/>
          <p:nvPr/>
        </p:nvSpPr>
        <p:spPr>
          <a:xfrm>
            <a:off x="4590288" y="4663440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예시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90288" y="4901184"/>
            <a:ext cx="3035808" cy="411480"/>
          </a:xfrm>
          <a:prstGeom prst="roundRect">
            <a:avLst>
              <a:gd name="adj" fmla="val 22222"/>
            </a:avLst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4901184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"울타리 근처에 사람이 서 있는 장면"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83296" y="2395728"/>
            <a:ext cx="35844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83296" y="2395728"/>
            <a:ext cx="3584448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8741664" y="2395728"/>
            <a:ext cx="2807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· 교범 영상 탐색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247888" y="250545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8247888" y="2505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57616" y="3172968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교육 영상에서 필요한 절차 구간을 문장으로 바로 찾는다. 처음부터 훑을 필요가 없다.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357616" y="4553712"/>
            <a:ext cx="3035808" cy="18288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37" name="Text 35"/>
          <p:cNvSpPr/>
          <p:nvPr/>
        </p:nvSpPr>
        <p:spPr>
          <a:xfrm>
            <a:off x="8357616" y="4663440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예시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357616" y="4901184"/>
            <a:ext cx="3035808" cy="411480"/>
          </a:xfrm>
          <a:prstGeom prst="roundRect">
            <a:avLst>
              <a:gd name="adj" fmla="val 22222"/>
            </a:avLst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0768" y="4901184"/>
            <a:ext cx="2889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"장비를 분해하는 절차 구간"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623560"/>
            <a:ext cx="11109960" cy="73152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6B7C8E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" y="5724144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 — 현재 실험은 공개 한국어 영상으로 수행했다. 위 검색 예시는 설명용이며, 군 자료 적용에는 폐쇄망 구동과 도메인 재검증이 필요하다.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기술 도입 근거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키워드 검색이 아니라 AI인가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109960" cy="841248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82296" cy="84124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37160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찾고 싶은 장면에 그 단어가 나오지 않는다 — 말이 없는 장면에는 검색할 글자 자체가 없다.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109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371600"/>
                <a:gridCol w="3337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검색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무엇으로 찾나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MRR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 매칭 (BM25)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 글자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0.333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C8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의미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자막, 의미로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키워드보다 유의하게 나음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 + 화면 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 + 화면 글자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C8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글자를 늘려도 여기까지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검색 + 화면 이해 (채택)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 + 화면, 둘 다 의미로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 모든 방식보다 유의하게 나음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66928" y="47365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학습용 데이터 96건 · MRR은 정답을 얼마나 위로 올리는지(1에 가까울수록 좋음) · 통계적 유의성은 쌍체 부트스트랩 95% 신뢰구간으로 확인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5440680" cy="118872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5120640"/>
            <a:ext cx="82296" cy="1188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52486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늘려서 얻은 이득이 아니다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555955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쪽에 화면 설명까지 똑같이 넣어 줘도 0.556에 머문다 — 차이는 의미를 이해하는 데서 온다.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5120640"/>
            <a:ext cx="5440680" cy="1188720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5120640"/>
            <a:ext cx="82296" cy="11887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52486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없는 장면에서 격차가 가장 크다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37960" y="555955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대사 없이 화면으로만 성립하는 질문 38건: 자막만 쓰면 0.105, 화면을 함께 쓰면 0.491.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전체 구조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파이프라인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0" y="1298448"/>
            <a:ext cx="3044952" cy="502920"/>
          </a:xfrm>
          <a:prstGeom prst="roundRect">
            <a:avLst>
              <a:gd name="adj" fmla="val 9091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298448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영상 (수십 분 ~ 수 시간)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181965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29584" y="207568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E8F6F4"/>
          </a:solidFill>
          <a:ln w="15875">
            <a:solidFill>
              <a:srgbClr val="18B7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9584" y="2075688"/>
            <a:ext cx="64008" cy="56692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07568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— 5초 구간으로 자르고, 구간마다 대표 화면 1장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76188" y="2642616"/>
            <a:ext cx="27432" cy="201168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4" name="Shape 12"/>
          <p:cNvSpPr/>
          <p:nvPr/>
        </p:nvSpPr>
        <p:spPr>
          <a:xfrm>
            <a:off x="3108960" y="2843784"/>
            <a:ext cx="5989320" cy="27432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3108960" y="2843784"/>
            <a:ext cx="27432" cy="182880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6" name="Shape 14"/>
          <p:cNvSpPr/>
          <p:nvPr/>
        </p:nvSpPr>
        <p:spPr>
          <a:xfrm>
            <a:off x="9070848" y="2843784"/>
            <a:ext cx="27432" cy="182880"/>
          </a:xfrm>
          <a:prstGeom prst="rect">
            <a:avLst/>
          </a:prstGeom>
          <a:solidFill>
            <a:srgbClr val="D9E2EC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300837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13648" y="300837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" y="32918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검색 — 질문이 있을 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86016" y="32918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보고서 — 질문이 없을 때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24128" y="3602736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2E7F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3602736"/>
            <a:ext cx="64008" cy="5486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23" name="Text 21"/>
          <p:cNvSpPr/>
          <p:nvPr/>
        </p:nvSpPr>
        <p:spPr>
          <a:xfrm>
            <a:off x="1225296" y="3602736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음성은 자막으로, 화면은 장면 설명으로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17880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24128" y="4370832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2E7FA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4128" y="4370832"/>
            <a:ext cx="64008" cy="5486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27" name="Text 25"/>
          <p:cNvSpPr/>
          <p:nvPr/>
        </p:nvSpPr>
        <p:spPr>
          <a:xfrm>
            <a:off x="1225296" y="4370832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자막 · 장면 설명을 각각 벡터로 저장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4946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24128" y="5138928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2E7FA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24128" y="5138928"/>
            <a:ext cx="64008" cy="5486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31" name="Text 29"/>
          <p:cNvSpPr/>
          <p:nvPr/>
        </p:nvSpPr>
        <p:spPr>
          <a:xfrm>
            <a:off x="1225296" y="5138928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질문과 비교해 순위 매기기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미달이면 "해당 장면 없음"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86016" y="3602736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B886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86016" y="3602736"/>
            <a:ext cx="64008" cy="54864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3602736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화면에서 본 것과 말한 내용을 함께 본다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986016" y="417880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986016" y="4370832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86016" y="4370832"/>
            <a:ext cx="64008" cy="54864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7187184" y="4370832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흩어진 구간을 이어 하나의 사건으로 묶는다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86016" y="4946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86016" y="5138928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B8860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6016" y="5138928"/>
            <a:ext cx="64008" cy="54864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2" name="Text 40"/>
          <p:cNvSpPr/>
          <p:nvPr/>
        </p:nvSpPr>
        <p:spPr>
          <a:xfrm>
            <a:off x="7187184" y="5138928"/>
            <a:ext cx="3895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근거를 검증한 뒤 보고서로 쓴다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영상을 한 번만 자르고 그 구간을 두 갈래가 함께 쓴다 — 보고서 쪽은 검색용 장면 설명을 재활용하지 않고 화면을 다시 관찰한다.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영상 검색 · 단계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영상을 자르고, 구간마다 대표 화면을 고른다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406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17320"/>
            <a:ext cx="82296" cy="21488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536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나누기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19202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전체를 5초 길이의 구간으로 자른다.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결과의 최소 단위가 이 구간이다 — 사용자는 구간 단위로 결과를 받고, 클릭하면 그 시각으로 이동한다.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4406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17320"/>
            <a:ext cx="82296" cy="21488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5361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화면 고르기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19202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안 프레임을 이웃끼리 비교해 변화가 가장 큰 순간 한 장을 고른다.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장만 쓰는 이유 — 구간마다 수십 장을 모두 설명시키면 비용이 수십 배가 된다.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767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5초인가 — 길이를 바꿔 같은 질의로 다시 쟀다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1828800"/>
                <a:gridCol w="5349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 길이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정확도(MRR)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1위 적중률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장면이 잘려 설명이 단편적이 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5초 (채택)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0.576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 하나가 대체로 한 구간에 담긴다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0.424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구간에 여러 장면이 섞여 설명이 뭉개진다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학습용 영상 3편 · 질의 66건 · 각 길이마다 합산 비중을 따로 최적화한 뒤 비교했다.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영상 검색 · 단계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말은 자막으로, 화면은 문장으로 바꾼다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82296" cy="178308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81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→ 자막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18288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 모델(Whisper large-v3)로 말한 내용을 문장으로 받아쓴다.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구간에 모델이 만들어내는 가짜 자막("한글자막 by …")은 자동 규칙으로 걸러낸다.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4406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371600"/>
            <a:ext cx="82296" cy="178308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481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→ 장면 설명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18288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모델(Qwen2.5-VL-3B)이 대표 화면 한 장을 보고 한국어 한 문장으로 묘사한다.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프롬프트로 두 가지를 금지했다 — 화면에 없는 것 쓰기, 화면 속 글자를 그대로 옮겨 적기.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33101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화면 설명 모델을 유지하는가 — 더 큰 후보(4B)를 같은 서버·같은 조건에서 나란히 돌렸다</a:t>
            </a:r>
            <a:endParaRPr lang="en-US" sz="1350" dirty="0"/>
          </a:p>
        </p:txBody>
      </p:sp>
      <p:pic>
        <p:nvPicPr>
          <p:cNvPr id="16" name="Image 0" descr="C:\Users\UserK\Desktop\prj\docs\presentation\assets\frame_seg55_gwaktub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3703320" cy="208483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48640" y="57881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#55 · 4:35~4:40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26280" y="3675888"/>
            <a:ext cx="7132320" cy="86868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26280" y="3675888"/>
            <a:ext cx="82296" cy="86868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20" name="Text 17"/>
          <p:cNvSpPr/>
          <p:nvPr/>
        </p:nvSpPr>
        <p:spPr>
          <a:xfrm>
            <a:off x="4736592" y="3767328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쓰는 모델(3B) 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남성이 흰색 티셔츠를 입고 검은색 뚜껑의 작은 플라스틱 병을 들고 있다…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26280" y="4636008"/>
            <a:ext cx="7132320" cy="868680"/>
          </a:xfrm>
          <a:prstGeom prst="rect">
            <a:avLst/>
          </a:prstGeom>
          <a:solidFill>
            <a:srgbClr val="FBF3F2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26280" y="4636008"/>
            <a:ext cx="82296" cy="8686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0"/>
          <p:cNvSpPr/>
          <p:nvPr/>
        </p:nvSpPr>
        <p:spPr>
          <a:xfrm>
            <a:off x="4736592" y="4727448"/>
            <a:ext cx="6766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모델(4B) 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一头卷发的男子穿着白色T恤，站在厨房里…  (한국어를 벗어났다)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26280" y="5596128"/>
            <a:ext cx="7132320" cy="749808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26280" y="5596128"/>
            <a:ext cx="82296" cy="74980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26" name="Text 23"/>
          <p:cNvSpPr/>
          <p:nvPr/>
        </p:nvSpPr>
        <p:spPr>
          <a:xfrm>
            <a:off x="4736592" y="5669280"/>
            <a:ext cx="6766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후보가 더 정확한 사례도 있었지만, 이렇게 언어 자체를 벗어난 설명은 한국어 질문에 걸리지 않는다. 두 글자만 섞이면 자동 필터도 못 잡는다(검출률 0.08) — 그래서 교체하지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영상 검색 · 단계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문장을 숫자로 바꾸고, 질문과 견준다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82296" cy="12344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813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벡터로 저장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1792224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 문장과 장면 설명 문장을 각각 임베딩 모델(KURE-v1)로 숫자 벡터로 바꿔 저장한다. 사용자 질문도 같은 모델로 벡터가 되어, 뜻이 가까운 문장일수록 점수가 높게 나온다. 영상마다 한 번만 만들면 이후 검색은 이 저장소만 읽는다.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743200"/>
            <a:ext cx="82296" cy="18288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점수를 합치는 방법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3163824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 점수와 화면 점수는 분포가 달라 그대로 더할 수 없다. 각 채널을 같은 기준으로 환산한 뒤 더한다.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비중은 자막 50 : 화면 50 — 학습용 데이터에서 비중을 0부터 1까지 훑어 가장 좋은 값을 골랐다.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40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2743200"/>
            <a:ext cx="82296" cy="182880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"관련 장면 없음" 판정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163824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채널 중 높은 쪽 점수가 기준선에 못 미치면 결과를 내지 않고 없다고 답한다.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기준선은 실제 질의 96건과 영상에 없는 질의 20건으로 맞췄다 — 있는 것을 잘못 버린 경우 0건, 없는 것을 걸러낸 경우 14건.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109960" cy="105156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709160"/>
            <a:ext cx="82296" cy="105156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809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임베딩 모델인가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68680" y="510235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7종과 비교해 KURE-v1이 앞섰고, 특히 화면 설명 채널만 따로 쟀을 때 격차가 가장 크게 났다. 외부 공개 데이터로 다시 확인했을 때도 순위가 뒤집히지 않았다 (다음 장).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66928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검색에 쓰는 것은 영상 원본이 아니라 이 문장들이다 — 설명이 틀리면 검색도 틀린다.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데이터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— 무엇으로 만들고 무엇으로 검증했나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89888"/>
            <a:ext cx="35661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89888"/>
            <a:ext cx="82296" cy="269748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5544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평가용 (직접 제작)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1993392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7편 · 질의 135건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학습·튜닝용 96건 (영상 3편)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자막형 24 · 장면형 38 · 복합형 34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평가용 39건 (영상 4편) — 봉인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 질의 20건 별도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"해당 장면 없음" 기준 보정용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성능 계산에서는 제외한다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5112" y="1389888"/>
            <a:ext cx="35661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389888"/>
            <a:ext cx="82296" cy="269748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3" name="Text 11"/>
          <p:cNvSpPr/>
          <p:nvPr/>
        </p:nvSpPr>
        <p:spPr>
          <a:xfrm>
            <a:off x="4562856" y="15544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공개 데이터 (재확인)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62856" y="1993392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Hub 공개데이터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97편 · 구간 1,164개 · 질의 562건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만들지 않은 데이터로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선택을 한 번 더 검증했다.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데이터에서만 좋은 것이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아님을 확인하기 위한 절차다.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01584" y="1389888"/>
            <a:ext cx="35661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01584" y="1389888"/>
            <a:ext cx="82296" cy="269748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8339328" y="15544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39328" y="1993392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5초 구간으로 분할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초당 3장 샘플 → 구간별 대표 화면 1장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 large-v3 (한국어)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무발화 구간의 환각 자막 자동 제거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("한글자막 by …" 유형)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깨진 장면 설명은 자동 판정분만 재생성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— 사람이 내용을 보고 고르지 않는다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370832"/>
            <a:ext cx="11109960" cy="105156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370832"/>
            <a:ext cx="82296" cy="1051560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988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구간은 프레임 실물을 눈으로 확인해 작성했다 — 검색 결과를 보고 고르지 않았다.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6868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도구는 프레임과 시각만 넘겨받고 자막·장면 설명은 전달받지 못하도록 막혀 있다. 검색이 잘 찾은 구간을 정답으로 고르면 평가가 무의미해진다.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56692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평가용 39건은 이번 발표에서 열지 않았다 — 뒤의 성능 수치는 전부 학습·튜닝용 96건 기준이다.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모델 선택 근거 · 화면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이해 모델 — 왜 Qwen2.5-VL 3B인가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109960" cy="841248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71600"/>
            <a:ext cx="82296" cy="841248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37160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 — Qwen2.5-VL-3B-Instruct · 4bit 양자화 · 구간마다 한국어 한 문장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11109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432304"/>
            <a:ext cx="82296" cy="1024128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5786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74520" y="2560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채널만으로 MRR 0.554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292608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자막을 완전히 끄고 장면 설명만으로 검색해도 96건 중 44건이 1위다. 말 없는 장면을 찾는 능력이 실제로 이 모델에서 나온다.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566160"/>
            <a:ext cx="11109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66160"/>
            <a:ext cx="82296" cy="10241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124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74520" y="36941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7B는 4bit로도 로컬 6GB 초과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74520" y="405993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3B + 4bit가 노트북 한 대에서 검색과 보고서를 함께 돌릴 수 있는 크기였다. 실사용 조건에서 고른 값이다.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10996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700016"/>
            <a:ext cx="82296" cy="102412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846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74520" y="4828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패널티 1.3 → 1.1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874520" y="519379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1.3에서는 한자·가나가 섞인 캡션이 10건 중 8건까지 나왔고 1.1에서 3건으로 줄었다. 깨진 캡션은 자동 판정분만 재생성한다.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724144"/>
            <a:ext cx="11109960" cy="658368"/>
          </a:xfrm>
          <a:prstGeom prst="rect">
            <a:avLst/>
          </a:prstGeom>
          <a:solidFill>
            <a:srgbClr val="FBF3F2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724144"/>
            <a:ext cx="82296" cy="65836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815584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채택하지 않은 후보도 명시한다 — Qwen2.5-VL 7B와 Qwen3-VL 4B는 후보 상태다. 7B는 같은 프롬프트에서 캡션 길이가 절반(64.8자 vs 121.0자)으로 나와 현행 설정 그대로는 공정한 비교가 성립하지 않았다.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모델 선택 근거 · 임베딩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임베딩 모델 비교 — 왜 KURE-v1인가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38988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숫자로 바꾸는 모델. 비교한 후보 7종 — BGE-M3 계열 3종 · multilingual-e5-large · KoE5 · Qwen3-Embedding · gte-multilingual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1099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011680"/>
                <a:gridCol w="2011680"/>
                <a:gridCol w="37947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KURE-v1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BGE-M3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설명 채널만 따로 쟀을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격차가 가장 크게 드러남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배포 비중(자막+화면 함께)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그대로 써도 KURE가 앞섬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3611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MRR(정답을 얼마나 위로 올리는지, 1에 가까울수록 좋음) · 학습용 데이터 96건 기준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4023360"/>
            <a:ext cx="11109960" cy="141732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4023360"/>
            <a:ext cx="82296" cy="14173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15137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데이터로 다시 확인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480560"/>
            <a:ext cx="10424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만들지 않은 AI Hub 공개데이터 562건에서 후보 7종을 KURE-v1과 다시 비교했다. 비교가 여러 번이라 통계 기준을 더 엄격하게 적용했더니, 7종 전부 의미 있는 개선을 보이지 못했다(가장 나은 후보도 개선 폭이 불확실했다) → KURE-v1 유지.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5577840"/>
            <a:ext cx="11109960" cy="777240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6" name="Text 13"/>
          <p:cNvSpPr/>
          <p:nvPr/>
        </p:nvSpPr>
        <p:spPr>
          <a:xfrm>
            <a:off x="868680" y="570585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고를 때 뚜렷하게 앞섰고, 나중에 외부 데이터로 다시 확인했을 때도 흔들리지 않았다.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 성능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— 화면을 더하면 무엇이 좋아지나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109960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1600200"/>
                <a:gridCol w="1600200"/>
                <a:gridCol w="2331720"/>
                <a:gridCol w="16002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성과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자막 + 화면 (채택)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MRR — 정답을 얼마나 위로 올리나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+0.255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1위가 정답인 비율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+20.9%p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5위 안에 정답이 있는 비율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66.7%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+33.4%p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 없는 장면 질문 38건 (MRR)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4.7배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4041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학습·튜닝용 96건 기준 · 자막만 = α 1.0 · 화면만 = α 0.0 · 채택 = α 0.5 (두 채널을 z-score로 정규화해 결합)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4443984"/>
            <a:ext cx="5440680" cy="123444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4443984"/>
            <a:ext cx="82296" cy="12344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표본으로 잴 수 있는 한계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48828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96건 중 54건은 이미 1위라 남은 개선 여지가 0.331뿐이고, 신뢰구간 폭은 ±0.08 수준이다. 이보다 작은 차이는 검출되지 않는다.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4443984"/>
            <a:ext cx="5440680" cy="1234440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17920" y="4443984"/>
            <a:ext cx="82296" cy="123444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4572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평가용 39건은 열지 않았다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537960" y="48828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튜닝에 쓴 데이터로 최종 성능을 주장하지 않기 위해 분리해 두었다. 한 번 보면 되돌릴 수 없는 자원이라 그대로 봉인한다.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58887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개선은 대사가 없는 장면에서 나왔다 — 자막 검색이 원래 못 하던 영역이다.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 영상 검색 · 데모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데모 — 실제 화면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pic>
        <p:nvPicPr>
          <p:cNvPr id="7" name="Image 0" descr="C:\Users\UserK\Desktop\prj\docs\presentation\assets\ui_search_demo_202609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9796" y="1371600"/>
            <a:ext cx="6309360" cy="39410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939796" y="1371600"/>
            <a:ext cx="6309360" cy="3941064"/>
          </a:xfrm>
          <a:prstGeom prst="rect">
            <a:avLst/>
          </a:prstGeom>
          <a:ln w="12700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04688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550468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입력창 — "연탄을 나르는 장면"처럼 한국어 문장을 그대로 넣는다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217920" y="5504688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92240" y="550468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순위별 결과 — 구간마다 자막 근거와 화면 설명 근거가 함께 뜬다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5943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표시 — 발화 0.554 · 화면 0.627 · 종합 3.414처럼 어느 채널이 맞췄는지 보인다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217920" y="59436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92240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재생기 — 결과를 클릭하면 그 순간부터 바로 재생된다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 전체 보고서 · 문제정의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영상 보고서 — 왜 추가했나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536192"/>
            <a:ext cx="11109960" cy="1188720"/>
          </a:xfrm>
          <a:prstGeom prst="rect">
            <a:avLst/>
          </a:prstGeom>
          <a:solidFill>
            <a:srgbClr val="FDF6E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36192"/>
            <a:ext cx="82296" cy="1188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71907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"원하는 부분 찾기"에는 좋지만, 영상 전체가 어떤 내용인지 한눈에 이해하기는 어렵다.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던지려면 이미 무엇을 찾을지 알고 있어야 한다.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109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05409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진행 상태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10128"/>
            <a:ext cx="2020824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10128"/>
            <a:ext cx="2020824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" y="343814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관찰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0392" y="3803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0392" y="405993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구간마다 보이는 사실만 뽑는다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98064" y="3310128"/>
            <a:ext cx="137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935224" y="3310128"/>
            <a:ext cx="2020824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5224" y="3310128"/>
            <a:ext cx="2020824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0" name="Text 18"/>
          <p:cNvSpPr/>
          <p:nvPr/>
        </p:nvSpPr>
        <p:spPr>
          <a:xfrm>
            <a:off x="3008376" y="343814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내용 정리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008376" y="3803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08376" y="405993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발화를 사건 단위로 묶는다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956048" y="3310128"/>
            <a:ext cx="137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3310128"/>
            <a:ext cx="2020824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93208" y="3310128"/>
            <a:ext cx="2020824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343814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사건으로 결합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66360" y="3803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405993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사건이면 한 줄로 합친다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14032" y="3310128"/>
            <a:ext cx="137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251192" y="3310128"/>
            <a:ext cx="2020824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51192" y="3310128"/>
            <a:ext cx="2020824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2" name="Text 30"/>
          <p:cNvSpPr/>
          <p:nvPr/>
        </p:nvSpPr>
        <p:spPr>
          <a:xfrm>
            <a:off x="7324344" y="343814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검증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24344" y="3803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24344" y="405993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 못 한 사건은 내보내지 않는다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272016" y="3310128"/>
            <a:ext cx="137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409176" y="3310128"/>
            <a:ext cx="2020824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09176" y="3310128"/>
            <a:ext cx="2020824" cy="54864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8" name="Text 36"/>
          <p:cNvSpPr/>
          <p:nvPr/>
        </p:nvSpPr>
        <p:spPr>
          <a:xfrm>
            <a:off x="9482328" y="3438144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출력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482328" y="38039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82328" y="405993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+ 세부 관찰 표 · 문서 파일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4754880"/>
            <a:ext cx="11109960" cy="114300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" y="495604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사용자가 질문을 갖고 있을 때 동작한다. 보고서는 질문 자체를 만들어 준다.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단계가 모두 동작하고 문서까지 나오지만, 근거가 희박한 영상에서는 보고서가 거의 비는 한계가 남아 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 전체 보고서 · 결과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보고서 결과 — 시연 영상 40분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53312"/>
            <a:ext cx="11109960" cy="896112"/>
          </a:xfrm>
          <a:prstGeom prst="rect">
            <a:avLst/>
          </a:prstGeom>
          <a:solidFill>
            <a:srgbClr val="FDF6E9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53312"/>
            <a:ext cx="82296" cy="89611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2646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봉사활동 · 식재료 구매 · 라면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17373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봉사활동 준비에서 시작해 봉사활동, 봉사활동 및 식사, 라면을 거쳐 식재료 구매로 이어진다.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10996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965960"/>
                <a:gridCol w="61722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봉사활동 준비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00:03:04 ~ 00:04:13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 홍재동으로 가는 연탄 나르기 봉사활동을 위해 충분히 준비하고 있다. 위에는 다섯 겹, 아래에는 세 겹의 옷을 입었다.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FA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00:04:48 ~ 00:04:57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열차를 타고 이동하는 활동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886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봉사활동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00:05:17 ~ 00:11:52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A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참가자들이 지게를 이용해 물건을 옮기는 봉사활동을 하고 있으며, 작업이 끝나자마자 근처 슈퍼마켓에서 식사를 하기로 결정했다.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844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음성+화면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66928" y="47183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출력 21행 중 3행 · 마지막 행은 화면 근거와 음성 근거가 같은 사건으로 묶인 경우다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8640" y="5065776"/>
            <a:ext cx="26517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5065776"/>
            <a:ext cx="82296" cy="11155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" y="51572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검증 통과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49808" y="54315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49808" y="5833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사건이 실제 구간에 연결됨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9564" y="5065776"/>
            <a:ext cx="26517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369564" y="5065776"/>
            <a:ext cx="82296" cy="11155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20" name="Text 17"/>
          <p:cNvSpPr/>
          <p:nvPr/>
        </p:nvSpPr>
        <p:spPr>
          <a:xfrm>
            <a:off x="3570732" y="51572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· 개요 미지지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3570732" y="54315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0건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570732" y="5833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문장이 문서에 없다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90488" y="5065776"/>
            <a:ext cx="26517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90488" y="5065776"/>
            <a:ext cx="82296" cy="1115568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25" name="Text 22"/>
          <p:cNvSpPr/>
          <p:nvPr/>
        </p:nvSpPr>
        <p:spPr>
          <a:xfrm>
            <a:off x="6391656" y="51572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 환각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391656" y="54315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10건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91656" y="5833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4편 합계 · 최종 출력에는 0건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011412" y="5065776"/>
            <a:ext cx="26517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11412" y="5065776"/>
            <a:ext cx="82296" cy="1115568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30" name="Text 27"/>
          <p:cNvSpPr/>
          <p:nvPr/>
        </p:nvSpPr>
        <p:spPr>
          <a:xfrm>
            <a:off x="9212580" y="51572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원문 노출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9212580" y="54315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→ 0행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9212580" y="58338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4편 합계 · 전사를 그대로 싣지 않는다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66928" y="629107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경로가 동작하는 것과 품질이 확보된 것은 다르다 — 근거가 희박한 영상에서는 보고서가 거의 비는 한계가 남아 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 통합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검색과 보고서가 어떻게 연결되는가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536192"/>
            <a:ext cx="11109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55648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영상  ──→  보고서 생성  ──→  주요 주장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│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▼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검색 기능으로 해당 장면 다시 확인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│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▼</a:t>
            </a:r>
            <a:endParaRPr lang="en-US" sz="13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E2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근거 구간 + 화면으로 확인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1109960" cy="960120"/>
          </a:xfrm>
          <a:prstGeom prst="rect">
            <a:avLst/>
          </a:prstGeom>
          <a:solidFill>
            <a:srgbClr val="E8F6F4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4114800"/>
            <a:ext cx="82296" cy="96012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297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보고서는 영상 전체를 요약하고, 검색은 그 요약이 맞는지 다시 찾아 확인하는 역할을 한다.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" y="5285232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보고서의 모든 문장은 어느 구간에서 나왔는지 기록을 달고 나온다. 그래서 검색으로 그 구간을 열어 화면으로 바로 확인할 수 있다.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출력을 그대로 믿지 않고 사람이 되짚을 수 있게 만드는 것이 두 기능을 한 시스템에 둔 이유다.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B7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B7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 마무리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64008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· 배운 점 · 향후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없는 장면도 찾아내는 한국어 영상 모먼트 검색 · 최종발표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536192"/>
            <a:ext cx="358444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536192"/>
            <a:ext cx="82296" cy="420624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719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 것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2295144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" name="Text 9"/>
          <p:cNvSpPr/>
          <p:nvPr/>
        </p:nvSpPr>
        <p:spPr>
          <a:xfrm>
            <a:off x="1024128" y="21762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한국어 문장으로 장면을 찾는 검색 기능 구축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2898648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277977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없는 장면 검색이 0.105에서 0.491로 개선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502152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3383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데이터·외부 공개 데이터 모두에서 확인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105656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3986784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전체를 사건 단위로 정리한 보고서 문서 생성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70916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459028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보고서의 모든 사건이 실제 구간에 연결됨을 자동 검증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1536192"/>
            <a:ext cx="358444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1536192"/>
            <a:ext cx="82296" cy="4206240"/>
          </a:xfrm>
          <a:prstGeom prst="rect">
            <a:avLst/>
          </a:prstGeom>
          <a:solidFill>
            <a:srgbClr val="2E7FA6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719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F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점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90288" y="2295144"/>
            <a:ext cx="82296" cy="82296"/>
          </a:xfrm>
          <a:prstGeom prst="ellipse">
            <a:avLst/>
          </a:prstGeom>
          <a:solidFill>
            <a:srgbClr val="2E7FA6"/>
          </a:solidFill>
          <a:ln/>
        </p:spPr>
      </p:sp>
      <p:sp>
        <p:nvSpPr>
          <p:cNvPr id="24" name="Text 22"/>
          <p:cNvSpPr/>
          <p:nvPr/>
        </p:nvSpPr>
        <p:spPr>
          <a:xfrm>
            <a:off x="4791456" y="21762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영상은 모델 한 번 호출로 안 된다 — 나누고 다시 합치는 설계가 본체다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90288" y="3081528"/>
            <a:ext cx="82296" cy="82296"/>
          </a:xfrm>
          <a:prstGeom prst="ellipse">
            <a:avLst/>
          </a:prstGeom>
          <a:solidFill>
            <a:srgbClr val="2E7FA6"/>
          </a:solidFill>
          <a:ln/>
        </p:spPr>
      </p:sp>
      <p:sp>
        <p:nvSpPr>
          <p:cNvPr id="26" name="Text 24"/>
          <p:cNvSpPr/>
          <p:nvPr/>
        </p:nvSpPr>
        <p:spPr>
          <a:xfrm>
            <a:off x="4791456" y="296265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출력은 검증 없이 쓸 수 없다 — 장면 설명도, 보고서도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90288" y="3685032"/>
            <a:ext cx="82296" cy="82296"/>
          </a:xfrm>
          <a:prstGeom prst="ellipse">
            <a:avLst/>
          </a:prstGeom>
          <a:solidFill>
            <a:srgbClr val="2E7FA6"/>
          </a:solidFill>
          <a:ln/>
        </p:spPr>
      </p:sp>
      <p:sp>
        <p:nvSpPr>
          <p:cNvPr id="28" name="Text 26"/>
          <p:cNvSpPr/>
          <p:nvPr/>
        </p:nvSpPr>
        <p:spPr>
          <a:xfrm>
            <a:off x="4791456" y="3566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성능을 올리는 것보다 틀린 문장을 내보내지 않는 쪽이 어려웠다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83296" y="1536192"/>
            <a:ext cx="358444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83296" y="1536192"/>
            <a:ext cx="82296" cy="420624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8339328" y="1719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57616" y="2295144"/>
            <a:ext cx="82296" cy="8229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3" name="Text 31"/>
          <p:cNvSpPr/>
          <p:nvPr/>
        </p:nvSpPr>
        <p:spPr>
          <a:xfrm>
            <a:off x="8558784" y="217627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인식 오류가 보고서 품질의 상한 — 여기부터 개선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357616" y="2898648"/>
            <a:ext cx="82296" cy="8229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8558784" y="277977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근거가 희박한 영상에서 보고서가 비는 문제 해결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357616" y="3502152"/>
            <a:ext cx="82296" cy="8229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7" name="Text 35"/>
          <p:cNvSpPr/>
          <p:nvPr/>
        </p:nvSpPr>
        <p:spPr>
          <a:xfrm>
            <a:off x="8558784" y="3383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봉인해 둔 최종 평가용 39건으로 공식 평가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357616" y="4105656"/>
            <a:ext cx="82296" cy="8229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9" name="Text 37"/>
          <p:cNvSpPr/>
          <p:nvPr/>
        </p:nvSpPr>
        <p:spPr>
          <a:xfrm>
            <a:off x="8558784" y="3986784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영상 편수를 늘려 일반성 확인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870448"/>
            <a:ext cx="11109960" cy="502920"/>
          </a:xfrm>
          <a:prstGeom prst="rect">
            <a:avLst/>
          </a:prstGeom>
          <a:solidFill>
            <a:srgbClr val="F0F5FA"/>
          </a:solidFill>
          <a:ln w="12700">
            <a:solidFill>
              <a:srgbClr val="D9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F2A43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04672" y="5943600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A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계획은 ①→④ 순서로 진행한다 — 품질을 먼저 올리고, 최종 평가는 마지막에 한 번만 연다.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말이 없는 장면도 찾아내는 한국어 영상 모먼트 검색 (최종발표 초안)</dc:title>
  <dc:subject>PptxGenJS Presentation</dc:subject>
  <dc:creator>PptxGenJS</dc:creator>
  <cp:lastModifiedBy>PptxGenJS</cp:lastModifiedBy>
  <cp:revision>1</cp:revision>
  <dcterms:created xsi:type="dcterms:W3CDTF">2026-09-19T12:01:45Z</dcterms:created>
  <dcterms:modified xsi:type="dcterms:W3CDTF">2026-09-19T12:01:45Z</dcterms:modified>
</cp:coreProperties>
</file>
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8B7A6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12344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8FB0C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국방 AI·SW 프로젝트 과정 · 최종발표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1783080"/>
            <a:ext cx="822960" cy="82296"/>
          </a:xfrm>
          <a:prstGeom prst="rect">
            <a:avLst/>
          </a:prstGeom>
          <a:solidFill>
            <a:srgbClr val="18B7A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말이 없는 장면도 찾아내는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한국어 영상 모먼트 검색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6868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0C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9. 11.   ·   정대석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0C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말이 없는 장면도 찾아내는 한국어 영상 모먼트 검색 · 최종발표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B0C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B7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8B7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목표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64008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목표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말이 없는 장면도 찾아내는 한국어 영상 모먼트 검색 · 최종발표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11109960" cy="1051560"/>
          </a:xfrm>
          <a:prstGeom prst="rect">
            <a:avLst/>
          </a:prstGeom>
          <a:solidFill>
            <a:srgbClr val="E8F6F4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481328"/>
            <a:ext cx="82296" cy="1051560"/>
          </a:xfrm>
          <a:prstGeom prst="rect">
            <a:avLst/>
          </a:prstGeom>
          <a:solidFill>
            <a:srgbClr val="18B7A6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60020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90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 영상에서 원하는 장면을 자연어로 빠르게 검색하고,</a:t>
            </a:r>
            <a:endParaRPr lang="en-US" sz="19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90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 전체 내용을 요약한 보고서까지 생성하는 시스템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2788920"/>
            <a:ext cx="544068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788920"/>
            <a:ext cx="82296" cy="2606040"/>
          </a:xfrm>
          <a:prstGeom prst="rect">
            <a:avLst/>
          </a:prstGeom>
          <a:solidFill>
            <a:srgbClr val="2E7FA6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9443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F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 검색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68680" y="336499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 기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3785616"/>
            <a:ext cx="4846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무엇을 찾을지 아는 사용자가 한국어 문장으로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질문하면, 영상 속에서 가장 관련 있는 장면을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순서대로 보여준다.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일치하는 장면이 없으면 "해당 장면 없음"이라고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알려준다 — 억지로 답을 만들지 않는다.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2788920"/>
            <a:ext cx="544068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2788920"/>
            <a:ext cx="82296" cy="260604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29443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영상 보고서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537960" y="336499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이해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37960" y="3785616"/>
            <a:ext cx="4846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찾을지 아직 모르는 사용자가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 전체 흐름을 한 문단으로 먼저 본다.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 = Overview(개요 요약) → Analysis(상세 분석) → Conclusion(결론)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6928" y="56235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검색은 질문이 있을 때, 보고서는 질문이 없을 때 쓰는 기능이다 — 두 기능은 서로의 대체재가 아니라 짝이다.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B7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8B7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영상 검색 · 문제정의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64008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 검색 — 왜 필요한가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말이 없는 장면도 찾아내는 한국어 영상 모먼트 검색 · 최종발표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572768"/>
            <a:ext cx="384048" cy="384048"/>
          </a:xfrm>
          <a:prstGeom prst="ellipse">
            <a:avLst/>
          </a:prstGeom>
          <a:solidFill>
            <a:srgbClr val="2E7FA6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155448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수작업 탐색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06240" y="1554480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 영상에서 원하는 장면 찾기는 지금도 타임라인을 직접 긁는 작업이다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139696"/>
            <a:ext cx="384048" cy="384048"/>
          </a:xfrm>
          <a:prstGeom prst="ellipse">
            <a:avLst/>
          </a:prstGeom>
          <a:solidFill>
            <a:srgbClr val="2E7FA6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139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2121408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 비용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06240" y="2121408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40분 영상 하나를 훑는 데 실시간에 가까운 시간이 든다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2706624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2706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2688336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자막의 구멍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06240" y="2688336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자막(말)만 검색하면 "말하지 않고 보여주기만 한 장면"을 원리적으로 놓친다 — 간판·표정·행동은 자막에 없다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520440"/>
            <a:ext cx="11109960" cy="1417320"/>
          </a:xfrm>
          <a:prstGeom prst="rect">
            <a:avLst/>
          </a:prstGeom>
          <a:solidFill>
            <a:srgbClr val="E8F6F4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520440"/>
            <a:ext cx="82296" cy="1417320"/>
          </a:xfrm>
          <a:prstGeom prst="rect">
            <a:avLst/>
          </a:prstGeom>
          <a:solidFill>
            <a:srgbClr val="18B7A6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367588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B7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우리가 푸는 문제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8680" y="404164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한국어 문장 하나로, 영상 속 정확한 시각 구간을 찾아준다.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말한 것과 보이는 것을 모두 검색 대상으로 만들어, 자막만으로는 못 찾던 장면까지 찾는다.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B7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8B7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영상 검색 · 원리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64008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 검색은 어떻게 동작하는가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말이 없는 장면도 찾아내는 한국어 영상 모먼트 검색 · 최종발표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699516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1645920"/>
            <a:ext cx="65836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E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영상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E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[M1] 5초 구간으로 자르고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E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[M2] 구간마다 대표 화면 1장 선택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E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소리   → 음성 인식        → 자막 문장   [M3]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E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화면   → 화면 이해 모델   → 장면 설명   [M3]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E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E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[M4] 두 문장을 각각 숫자 벡터로 바꿔 저장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E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▼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E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저장소 (영상마다 한 번만 생성)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E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▲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E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질문 문장도 같은 방식으로 벡터로 바꿔 비교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E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사용자 질문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E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[M5] 자막·화면 점수의 기준을 맞춘 뒤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E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   같은 비중으로 더한다 (자막 50% : 화면 50%)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E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   점수가 너무 낮으면 "관련 장면 없음"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E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▼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E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관련 구간 순서대로 + 근거(자막·설명·화면)</a:t>
            </a:r>
            <a:endParaRPr lang="en-US" sz="11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1463040"/>
          <a:ext cx="388620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3108960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모듈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하는 일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M1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영상을 5초 구간으로 자른다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M2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구간마다 대표 화면 1장을 고른다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M3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소리→자막, 화면→장면 설명을 만든다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M4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두 문장을 벡터로 바꿔 저장한다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M5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질문과 비교해 점수를 합치고 순위를 매긴다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M7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웹 화면으로 보여준다 (시연 UI)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C8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M6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i="1" dirty="0">
                          <a:solidFill>
                            <a:srgbClr val="6B7C8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정확도 채점 (검색할 때는 안 돌아감)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772400" y="5806440"/>
            <a:ext cx="3886200" cy="566928"/>
          </a:xfrm>
          <a:prstGeom prst="rect">
            <a:avLst/>
          </a:prstGeom>
          <a:solidFill>
            <a:srgbClr val="F0F5FA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955280" y="587044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M1~M5 · M7 = 실제 검색 흐름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M6 = 개발 중 정확도 확인용(오프라인)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B7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8B7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03-1  영상 검색 · 모듈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64008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모듈 상세 ① — 각 모듈이 주고받는 것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말이 없는 장면도 찾아내는 한국어 영상 모먼트 검색 · 최종발표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377440"/>
                <a:gridCol w="5532120"/>
                <a:gridCol w="2286000"/>
              </a:tblGrid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모듈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처리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출력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A3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M1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A3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원본 영상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A3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5초 단위로 자른다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A3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구간 목록(시작·끝 시각)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A3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A3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구간 안 프레임들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A3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앞 프레임과 가장 많이 달라지는 순간을 고른다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A3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대표 프레임 1장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A3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M3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A3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대표 프레임 + 음성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A3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화면 → 장면 설명 문장, 소리 → 자막 문장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A3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자막 문장 · 장면 설명 문장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A3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M4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A3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자막·장면 설명 문장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A3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임베딩 모델로 숫자 벡터로 바꾼다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A3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저장된 벡터 색인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A3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M5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A3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질문 + 벡터 색인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A3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질문도 벡터로 바꿔 유사도 비교 → 기준 맞춰 합산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A3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순위 매긴 결과 목록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A3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M7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A3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영상 + 사용자 질문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A3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M5를 호출하고 결과를 화면에 그린다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A3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웹 화면(검색창·결과·재생)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989320"/>
            <a:ext cx="11109960" cy="502920"/>
          </a:xfrm>
          <a:prstGeom prst="rect">
            <a:avLst/>
          </a:prstGeom>
          <a:solidFill>
            <a:srgbClr val="F0F5FA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04672" y="6062472"/>
            <a:ext cx="10652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 여섯 모듈이 실제 검색이 도는 경로다. M6은 이 경로에 들어가지 않는다 — 개발 중에만 따로 돌려 정확도를 채점한다(다음 장).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B7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8B7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03-2  영상 검색 · 모듈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64008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M6 — 검색이 잘 맞는지 채점하는 모듈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말이 없는 장면도 찾아내는 한국어 영상 모먼트 검색 · 최종발표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549640" y="658368"/>
            <a:ext cx="3108960" cy="384048"/>
          </a:xfrm>
          <a:prstGeom prst="rect">
            <a:avLst/>
          </a:prstGeom>
          <a:solidFill>
            <a:srgbClr val="6B7C8E"/>
          </a:solidFill>
          <a:ln/>
        </p:spPr>
      </p:sp>
      <p:sp>
        <p:nvSpPr>
          <p:cNvPr id="8" name="Text 6"/>
          <p:cNvSpPr/>
          <p:nvPr/>
        </p:nvSpPr>
        <p:spPr>
          <a:xfrm>
            <a:off x="8549640" y="65836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검색 때는 실행 안 됨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137160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기능 자체가 아니라, 개발 중에 "이 검색이 실제로 맞는가"를 확인하려고 따로 돌리는 채점 도구다.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828800"/>
            <a:ext cx="11109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828800"/>
            <a:ext cx="82296" cy="1005840"/>
          </a:xfrm>
          <a:prstGeom prst="rect">
            <a:avLst/>
          </a:prstGeom>
          <a:solidFill>
            <a:srgbClr val="18B7A6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2139696"/>
            <a:ext cx="384048" cy="384048"/>
          </a:xfrm>
          <a:prstGeom prst="ellipse">
            <a:avLst/>
          </a:prstGeom>
          <a:solidFill>
            <a:srgbClr val="18B7A6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139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1956816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등으로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찾았나 확인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80560" y="1956816"/>
            <a:ext cx="6949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질문마다 정답 구간이 검색 결과 몇 번째에 나왔는지 본다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2880360"/>
            <a:ext cx="11109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2880360"/>
            <a:ext cx="82296" cy="1005840"/>
          </a:xfrm>
          <a:prstGeom prst="rect">
            <a:avLst/>
          </a:prstGeom>
          <a:solidFill>
            <a:srgbClr val="18B7A6"/>
          </a:solidFill>
          <a:ln/>
        </p:spPr>
      </p:sp>
      <p:sp>
        <p:nvSpPr>
          <p:cNvPr id="18" name="Shape 16"/>
          <p:cNvSpPr/>
          <p:nvPr/>
        </p:nvSpPr>
        <p:spPr>
          <a:xfrm>
            <a:off x="777240" y="3191256"/>
            <a:ext cx="384048" cy="384048"/>
          </a:xfrm>
          <a:prstGeom prst="ellipse">
            <a:avLst/>
          </a:prstGeom>
          <a:solidFill>
            <a:srgbClr val="18B7A6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191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3008376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점수로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바꾼다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480560" y="3008376"/>
            <a:ext cx="6949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1위면 1점, 2위면 0.5점… 이런 식으로 등수를 점수로 바꿔 평균 낸다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3931920"/>
            <a:ext cx="11109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3931920"/>
            <a:ext cx="82296" cy="1005840"/>
          </a:xfrm>
          <a:prstGeom prst="rect">
            <a:avLst/>
          </a:prstGeom>
          <a:solidFill>
            <a:srgbClr val="2E7FA6"/>
          </a:solidFill>
          <a:ln/>
        </p:spPr>
      </p:sp>
      <p:sp>
        <p:nvSpPr>
          <p:cNvPr id="24" name="Shape 22"/>
          <p:cNvSpPr/>
          <p:nvPr/>
        </p:nvSpPr>
        <p:spPr>
          <a:xfrm>
            <a:off x="777240" y="4242816"/>
            <a:ext cx="384048" cy="384048"/>
          </a:xfrm>
          <a:prstGeom prst="ellipse">
            <a:avLst/>
          </a:prstGeom>
          <a:solidFill>
            <a:srgbClr val="2E7FA6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242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71600" y="4059936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방식을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비교한다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480560" y="4059936"/>
            <a:ext cx="6949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자막만 썼을 때와 자막+화면을 함께 썼을 때, 같은 질문으로 점수를 비교한다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4983480"/>
            <a:ext cx="11109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" y="4983480"/>
            <a:ext cx="82296" cy="100584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0" name="Shape 28"/>
          <p:cNvSpPr/>
          <p:nvPr/>
        </p:nvSpPr>
        <p:spPr>
          <a:xfrm>
            <a:off x="777240" y="5294376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5294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371600" y="5111496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진짜 차이인지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확인한다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480560" y="5111496"/>
            <a:ext cx="6949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질문을 여러 번 다시 섞어 봐도 점수 차이가 그대로면, 우연이 아니라 진짜 개선이라고 본다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48640" y="6062472"/>
            <a:ext cx="11109960" cy="347472"/>
          </a:xfrm>
          <a:prstGeom prst="rect">
            <a:avLst/>
          </a:prstGeom>
          <a:solidFill>
            <a:srgbClr val="E8F6F4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04672" y="6099048"/>
            <a:ext cx="10652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 — 정답과 검색 결과를 대조해 점수를 매기고, 그 점수 차이가 우연이 아닌지 확인하는 모듈이다.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B7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8B7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 모델 선택 근거 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64008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설명 모델 — 같은 장면, 다른 설명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말이 없는 장면도 찾아내는 한국어 영상 모먼트 검색 · 최종발표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135331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학습용 영상에서 두 모델을 같은 서버·같은 조건으로 나란히 실행한 결과</a:t>
            </a:r>
            <a:endParaRPr lang="en-US" sz="1100" dirty="0"/>
          </a:p>
        </p:txBody>
      </p:sp>
      <p:pic>
        <p:nvPicPr>
          <p:cNvPr id="8" name="Image 0" descr="C:\Users\UserK\Desktop\prj\docs\presentation\assets\frame_seg06_gwaktub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4206240" cy="23682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409651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구간 #6 · 0:30~0:35 · 자막 없음(무발화 구간)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48640" y="4370832"/>
            <a:ext cx="5394960" cy="658368"/>
          </a:xfrm>
          <a:prstGeom prst="rect">
            <a:avLst/>
          </a:prstGeom>
          <a:solidFill>
            <a:srgbClr val="F0F5FA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8640" y="4370832"/>
            <a:ext cx="82296" cy="658368"/>
          </a:xfrm>
          <a:prstGeom prst="rect">
            <a:avLst/>
          </a:prstGeom>
          <a:solidFill>
            <a:srgbClr val="18B7A6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4443984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8B7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쓰는 모델(3B)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여성은 푸른색 코트를 입고 금발 머리를 묶고 있으며, 파란색 바지를 입고 있습니다…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48640" y="5074920"/>
            <a:ext cx="5394960" cy="658368"/>
          </a:xfrm>
          <a:prstGeom prst="rect">
            <a:avLst/>
          </a:prstGeom>
          <a:solidFill>
            <a:srgbClr val="FDF6E9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48640" y="5074920"/>
            <a:ext cx="82296" cy="65836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" y="5148072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후보 모델(4B)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파란색 벽돌 건물 앞에서 녹색 재킷을 입은 여성이 길을 걷고 있다…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48640" y="577900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844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실제로는 청록 재킷·검은 머리 — 3B가 색과 머리 모두 틀렸고, 4B가 더 정확했다.</a:t>
            </a:r>
            <a:endParaRPr lang="en-US" sz="1050" dirty="0"/>
          </a:p>
        </p:txBody>
      </p:sp>
      <p:pic>
        <p:nvPicPr>
          <p:cNvPr id="17" name="Image 1" descr="C:\Users\UserK\Desktop\prj\docs\presentation\assets\frame_seg55_gwaktub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691640"/>
            <a:ext cx="4206240" cy="236829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245352" y="409651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구간 #55 · 4:35~4:40 · 자막: "기름으로 이빨 뿌렸는데도 밥이 없네요…"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6245352" y="4370832"/>
            <a:ext cx="5394960" cy="658368"/>
          </a:xfrm>
          <a:prstGeom prst="rect">
            <a:avLst/>
          </a:prstGeom>
          <a:solidFill>
            <a:srgbClr val="F0F5FA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245352" y="4370832"/>
            <a:ext cx="82296" cy="658368"/>
          </a:xfrm>
          <a:prstGeom prst="rect">
            <a:avLst/>
          </a:prstGeom>
          <a:solidFill>
            <a:srgbClr val="18B7A6"/>
          </a:solidFill>
          <a:ln/>
        </p:spPr>
      </p:sp>
      <p:sp>
        <p:nvSpPr>
          <p:cNvPr id="21" name="Text 17"/>
          <p:cNvSpPr/>
          <p:nvPr/>
        </p:nvSpPr>
        <p:spPr>
          <a:xfrm>
            <a:off x="6382512" y="4443984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8B7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쓰는 모델(3B)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남성이 흰색 티셔츠를 입고 검은색 뚜껑의 작은 플라스틱 병을 들고 있다…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6245352" y="5074920"/>
            <a:ext cx="5394960" cy="658368"/>
          </a:xfrm>
          <a:prstGeom prst="rect">
            <a:avLst/>
          </a:prstGeom>
          <a:solidFill>
            <a:srgbClr val="FBF3F2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245352" y="5074920"/>
            <a:ext cx="82296" cy="6583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4" name="Text 20"/>
          <p:cNvSpPr/>
          <p:nvPr/>
        </p:nvSpPr>
        <p:spPr>
          <a:xfrm>
            <a:off x="6382512" y="5148072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후보 모델(4B)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一头卷发的男子穿着白色T恤，站在厨房里，右手拿着一瓶深色液体…  (중국어로 이탈)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6245352" y="577900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4B가 한국어를 벗어났다 — 이런 설명은 한국어 질문에 걸리지 않는다.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548640" y="6263640"/>
            <a:ext cx="11109960" cy="457200"/>
          </a:xfrm>
          <a:prstGeom prst="rect">
            <a:avLst/>
          </a:prstGeom>
          <a:solidFill>
            <a:srgbClr val="F0F5FA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27" name="Text 23"/>
          <p:cNvSpPr/>
          <p:nvPr/>
        </p:nvSpPr>
        <p:spPr>
          <a:xfrm>
            <a:off x="804672" y="6309360"/>
            <a:ext cx="10652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사례는 후보가 더 정확했지만, ② 사례처럼 언어 자체를 벗어나는 오류를 자동 필터가 다 잡지 못한다(두 글자만 섞이면 검출률 0.08) — 그래서 아직 교체하지 않았다.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B7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8B7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모델 선택 근거 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64008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 임베딩 모델 — 왜 KURE-v1을 쓰는가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말이 없는 장면도 찾아내는 한국어 영상 모먼트 검색 · 최종발표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138988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문장을 숫자로 바꾸는 모델. 비교한 후보 7종 — BGE-M3 계열 3종 · multilingual-e5-large · KoE5 · Qwen3-Embedding · gte-multilingual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10996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011680"/>
                <a:gridCol w="2011680"/>
                <a:gridCol w="37947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비교 조건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KURE-v1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BGE-M3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화면 설명 채널만 따로 쟀을 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844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0.55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0.44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격차가 가장 크게 드러남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실제 배포 비중(자막+화면 함께)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844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0.67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0.64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그대로 써도 KURE가 앞섬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66928" y="36118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숫자는 MRR(정답을 얼마나 위로 올리는지, 1에 가까울수록 좋음) · 학습용 데이터 96건 기준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48640" y="4023360"/>
            <a:ext cx="11109960" cy="1417320"/>
          </a:xfrm>
          <a:prstGeom prst="rect">
            <a:avLst/>
          </a:prstGeom>
          <a:solidFill>
            <a:srgbClr val="F0F5FA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8640" y="4023360"/>
            <a:ext cx="82296" cy="1417320"/>
          </a:xfrm>
          <a:prstGeom prst="rect">
            <a:avLst/>
          </a:prstGeom>
          <a:solidFill>
            <a:srgbClr val="18B7A6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4151376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B7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데이터로 다시 확인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68680" y="4480560"/>
            <a:ext cx="10424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우리가 만들지 않은 AI Hub 공개데이터 562건에서 후보 7종을 KURE-v1과 다시 비교했다. 비교가 여러 번이라 통계 기준을 더 엄격하게 적용했더니, 7종 전부 의미 있는 개선을 보이지 못했다(가장 나은 후보도 개선 폭이 불확실했다) → KURE-v1 유지.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5577840"/>
            <a:ext cx="11109960" cy="777240"/>
          </a:xfrm>
          <a:prstGeom prst="rect">
            <a:avLst/>
          </a:prstGeom>
          <a:solidFill>
            <a:srgbClr val="E8F6F4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48640" y="5577840"/>
            <a:ext cx="82296" cy="777240"/>
          </a:xfrm>
          <a:prstGeom prst="rect">
            <a:avLst/>
          </a:prstGeom>
          <a:solidFill>
            <a:srgbClr val="18B7A6"/>
          </a:solidFill>
          <a:ln/>
        </p:spPr>
      </p:sp>
      <p:sp>
        <p:nvSpPr>
          <p:cNvPr id="16" name="Text 13"/>
          <p:cNvSpPr/>
          <p:nvPr/>
        </p:nvSpPr>
        <p:spPr>
          <a:xfrm>
            <a:off x="868680" y="5705856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 고를 때 뚜렷하게 앞섰고, 나중에 외부 데이터로 다시 확인했을 때도 흔들리지 않았다.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B7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8B7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 영상 검색 · 데모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64008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데모 — 실제 화면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말이 없는 장면도 찾아내는 한국어 영상 모먼트 검색 · 최종발표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00" dirty="0"/>
          </a:p>
        </p:txBody>
      </p:sp>
      <p:pic>
        <p:nvPicPr>
          <p:cNvPr id="7" name="Image 0" descr="C:\Users\UserK\Desktop\prj\docs\presentation\assets\ui_search_screensh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39796" y="1371600"/>
            <a:ext cx="6309360" cy="394106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939796" y="1371600"/>
            <a:ext cx="6309360" cy="3941064"/>
          </a:xfrm>
          <a:prstGeom prst="rect">
            <a:avLst/>
          </a:prstGeom>
          <a:ln w="12700">
            <a:solidFill>
              <a:srgbClr val="D9E2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550468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7F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2960" y="5504688"/>
            <a:ext cx="5166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입력창 — "새우전을 부치는 장면"처럼 한국어 문장을 그대로 넣는다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217920" y="550468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8B7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92240" y="5504688"/>
            <a:ext cx="5166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순위별 결과 — 정답 후보마다 자막 근거와 화면 설명 근거가 함께 뜬다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48640" y="594360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22960" y="5943600"/>
            <a:ext cx="5166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채널별 일치도 그래프 — 자막·화면 각각의 점수를 시간대별로 보여준다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217920" y="594360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844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492240" y="5943600"/>
            <a:ext cx="5166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 재생기 — 결과를 클릭하면 그 순간부터 바로 재생된다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B7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8B7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  전체 보고서 · 문제정의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64008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영상 보고서 — 왜 추가했나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말이 없는 장면도 찾아내는 한국어 영상 모먼트 검색 · 최종발표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536192"/>
            <a:ext cx="11109960" cy="1188720"/>
          </a:xfrm>
          <a:prstGeom prst="rect">
            <a:avLst/>
          </a:prstGeom>
          <a:solidFill>
            <a:srgbClr val="FDF6E9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536192"/>
            <a:ext cx="82296" cy="1188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719072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검색은 "원하는 부분 찾기"에는 좋지만, 영상 전체가 어떤 내용인지 한눈에 이해하기는 어렵다.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질문을 던지려면 이미 무엇을 찾을지 알고 있어야 한다.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11109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329184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1E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영상  →  전체 흐름 파악  →  Overview(개요 요약)  →  Analysis(상세 분석)  →  Conclusion(결론)  →  Report(보고서)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1E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─────────────    ─────────    ──────────     ────────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1E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구현 완료         진행 중        미착수         미착수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754880"/>
            <a:ext cx="11109960" cy="1143000"/>
          </a:xfrm>
          <a:prstGeom prst="rect">
            <a:avLst/>
          </a:prstGeom>
          <a:solidFill>
            <a:srgbClr val="F0F5FA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4956048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검색은 사용자가 질문을 갖고 있을 때 동작한다. 보고서는 질문 자체를 만들어 준다.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기능은 경쟁 관계가 아니라 진입 경로가 다른 것이다 — 이 관계는 통합 장에서 닫는다.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B7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8B7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  전체 보고서 · 설계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64008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영상을 나눠서 분석했는가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말이 없는 장면도 찾아내는 한국어 영상 모먼트 검색 · 최종발표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5440680" cy="1234440"/>
          </a:xfrm>
          <a:prstGeom prst="rect">
            <a:avLst/>
          </a:prstGeom>
          <a:solidFill>
            <a:srgbClr val="FBF3F2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417320"/>
            <a:ext cx="82296" cy="12344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51790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GPU 메모리 한계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18288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40분짜리 영상은 프레임 수가 너무 많아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번에 전부 넣을 수 없다.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1417320"/>
            <a:ext cx="5440680" cy="1234440"/>
          </a:xfrm>
          <a:prstGeom prst="rect">
            <a:avLst/>
          </a:prstGeom>
          <a:solidFill>
            <a:srgbClr val="FBF3F2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0" y="1417320"/>
            <a:ext cx="82296" cy="12344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151790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길수록 품질이 떨어진다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37960" y="18288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번에 넣는 분량이 길수록 중간 내용을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놓치고 출력 품질이 떨어진다.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788920"/>
            <a:ext cx="111099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8680" y="2944368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E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영상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E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48초씩 겹치게(24초씩) 나눈다 — 구간마다 2초 간격으로 화면 24장을 넣는다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E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화면 이해 모델이 구간을 직접 보고 큰 활동만 요약 → 시간 순서대로 정리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E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같은 모델이 전체 영상 Overview로 합성 (짧은 요약 / 자세한 요약)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480560"/>
            <a:ext cx="11109960" cy="1005840"/>
          </a:xfrm>
          <a:prstGeom prst="rect">
            <a:avLst/>
          </a:prstGeom>
          <a:solidFill>
            <a:srgbClr val="F0F5FA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4480560"/>
            <a:ext cx="82296" cy="100584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5720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48초 · 24초인가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68680" y="486460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24초 overlap은 window 길이의 절반이다 — 모든 순간이 서로 다른 구간에서 최소 두 번 관찰되어, 활동이 경계에서 통째로 잘리는 것을 막는다. window 길이(48초)는 GPU가 한 번에 무리 없이 처리할 수 있는 화면 수(24장)에 맞춘 값이다 — 다른 길이와의 정식 비교는 아직 진행 전이다.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5623560"/>
            <a:ext cx="5440680" cy="658368"/>
          </a:xfrm>
          <a:prstGeom prst="rect">
            <a:avLst/>
          </a:prstGeom>
          <a:solidFill>
            <a:srgbClr val="E8F6F4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5623560"/>
            <a:ext cx="82296" cy="658368"/>
          </a:xfrm>
          <a:prstGeom prst="rect">
            <a:avLst/>
          </a:prstGeom>
          <a:solidFill>
            <a:srgbClr val="18B7A6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5733288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영상을 직접 본다 — 검색용 색인을 재사용하지 않는다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17920" y="5623560"/>
            <a:ext cx="5440680" cy="658368"/>
          </a:xfrm>
          <a:prstGeom prst="rect">
            <a:avLst/>
          </a:prstGeom>
          <a:solidFill>
            <a:srgbClr val="E8F6F4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5623560"/>
            <a:ext cx="82296" cy="658368"/>
          </a:xfrm>
          <a:prstGeom prst="rect">
            <a:avLst/>
          </a:prstGeom>
          <a:solidFill>
            <a:srgbClr val="18B7A6"/>
          </a:solidFill>
          <a:ln/>
        </p:spPr>
      </p:sp>
      <p:sp>
        <p:nvSpPr>
          <p:cNvPr id="26" name="Text 24"/>
          <p:cNvSpPr/>
          <p:nvPr/>
        </p:nvSpPr>
        <p:spPr>
          <a:xfrm>
            <a:off x="6537960" y="5733288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하나가 관찰과 요약을 모두 한다 — 별도 모델 없음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B7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8B7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  전체 보고서 · 출력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64008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Overview 결과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말이 없는 장면도 찾아내는 한국어 영상 모먼트 검색 · 최종발표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778240" y="685800"/>
            <a:ext cx="2880360" cy="3840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8778240" y="68580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최신 결과 반영 전 자리표시자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13716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자리표시자 — 초기 실행의 실제 출력 (40분 영상 중 앞 10분 구간, 화면 이해 모델이 직접 관찰)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1700784"/>
            <a:ext cx="11109960" cy="1600200"/>
          </a:xfrm>
          <a:prstGeom prst="rect">
            <a:avLst/>
          </a:prstGeom>
          <a:solidFill>
            <a:srgbClr val="F0F5FA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700784"/>
            <a:ext cx="82296" cy="1600200"/>
          </a:xfrm>
          <a:prstGeom prst="rect">
            <a:avLst/>
          </a:prstGeom>
          <a:solidFill>
            <a:srgbClr val="18B7A6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1865376"/>
            <a:ext cx="10607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주방에서 다양한 감자 요리와 커리 우동을 준비하고, 아침 식사 메뉴를 바꾸며 반복적으로 요리 활동을 진행한 후, 병원 퇴원 후 외출을 시작해 동대문 시장에서 김밥을 제작하고 식사를 하며 일상의 흐름을 이어간다. 이후 직장 시간에 옷 수선을 하며, 아침 식사와 출근 준비를 마치고 선물 포장 및 시장 방문 계획을 세우며 하루를 마무리한다.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456432"/>
            <a:ext cx="5440680" cy="777240"/>
          </a:xfrm>
          <a:prstGeom prst="rect">
            <a:avLst/>
          </a:prstGeom>
          <a:solidFill>
            <a:srgbClr val="E8F6F4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456432"/>
            <a:ext cx="82296" cy="77724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62102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44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된 것 — 활동 전환의 순서가 잡힌다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3456432"/>
            <a:ext cx="5440680" cy="777240"/>
          </a:xfrm>
          <a:prstGeom prst="rect">
            <a:avLst/>
          </a:prstGeom>
          <a:solidFill>
            <a:srgbClr val="FBF3F2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3456432"/>
            <a:ext cx="82296" cy="7772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362102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 된 것 — 아직 발표에 쓸 품질이 아니다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6928" y="44074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개선 중인 점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4846320"/>
            <a:ext cx="91440" cy="914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73659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지나치게 세부적인 활동 표현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206240" y="4736592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구간 단위 동작이 전체 요약 문장에 그대로 올라온다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" y="5175504"/>
            <a:ext cx="91440" cy="914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4" name="Text 22"/>
          <p:cNvSpPr/>
          <p:nvPr/>
        </p:nvSpPr>
        <p:spPr>
          <a:xfrm>
            <a:off x="804672" y="506577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모호한 활동 분류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206240" y="5065776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비슷한 활동이 하나로 뭉개지거나 과하게 구체화된다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66928" y="5504688"/>
            <a:ext cx="91440" cy="914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7" name="Text 25"/>
          <p:cNvSpPr/>
          <p:nvPr/>
        </p:nvSpPr>
        <p:spPr>
          <a:xfrm>
            <a:off x="804672" y="53949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불확실성 표현 부재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206240" y="5394960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근거가 약한 구간도 단정적으로 서술한다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66928" y="5833872"/>
            <a:ext cx="91440" cy="914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0" name="Text 28"/>
          <p:cNvSpPr/>
          <p:nvPr/>
        </p:nvSpPr>
        <p:spPr>
          <a:xfrm>
            <a:off x="804672" y="572414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자연스러운 문장화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206240" y="572414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 나열에 가깝고 이야기로서의 연결이 약하다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66928" y="61081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경로가 동작하는 것과 품질이 확보된 것은 다르다 — 후자는 아직이다.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B7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8B7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 통합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64008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검색과 보고서가 어떻게 연결되는가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말이 없는 장면도 찾아내는 한국어 영상 모먼트 검색 · 최종발표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536192"/>
            <a:ext cx="111099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755648"/>
            <a:ext cx="10607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1E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영상  ──→  보고서 생성  ──→  주요 주장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1E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│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1E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▼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1E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검색 기능으로 해당 장면 다시 확인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1E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│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1E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▼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1E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근거 구간 + 화면으로 확인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4114800"/>
            <a:ext cx="11109960" cy="960120"/>
          </a:xfrm>
          <a:prstGeom prst="rect">
            <a:avLst/>
          </a:prstGeom>
          <a:solidFill>
            <a:srgbClr val="E8F6F4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4114800"/>
            <a:ext cx="82296" cy="960120"/>
          </a:xfrm>
          <a:prstGeom prst="rect">
            <a:avLst/>
          </a:prstGeom>
          <a:solidFill>
            <a:srgbClr val="18B7A6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2976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보고서는 영상 전체를 요약하고, 검색은 그 요약이 맞는지 다시 찾아 확인하는 역할을 한다.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66928" y="528523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보고서의 결론("Overview도 아직 틀린다")과 검색의 결론("검색 근거도 정답이 아니다")은 같은 문제의 양면이다.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한쪽 출력을 다른 쪽으로 되짚는 구조가 필요하다 — 두 기능이 따로 노는 게 아닌 이유다.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B7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8B7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 군 활용성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64008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군 활용 가능성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말이 없는 장면도 찾아내는 한국어 영상 모먼트 검색 · 최종발표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11109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600200"/>
            <a:ext cx="82296" cy="1170432"/>
          </a:xfrm>
          <a:prstGeom prst="rect">
            <a:avLst/>
          </a:prstGeom>
          <a:solidFill>
            <a:srgbClr val="2E7FA6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728216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F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사후검토(AAR) 지원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297680" y="1728216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훈련·연습 영상에서 특정 상황을 문장으로 찾아 되짚는다. 요약 리포트가 근거 구간과 함께 초안을 만든다.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898648"/>
            <a:ext cx="11109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898648"/>
            <a:ext cx="82296" cy="1170432"/>
          </a:xfrm>
          <a:prstGeom prst="rect">
            <a:avLst/>
          </a:prstGeom>
          <a:solidFill>
            <a:srgbClr val="18B7A6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026664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B7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무발화 영상 검색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297680" y="3026664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감시·정찰 영상처럼 말이 거의 없는 자료에서도 화면 채널만으로 검색된다 — 자막 검색이 무력한 영역이다.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197096"/>
            <a:ext cx="11109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4197096"/>
            <a:ext cx="82296" cy="1170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32511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교육·교범 영상 탐색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297680" y="4325112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 교육 영상에서 필요한 절차 구간을 문장으로 바로 찾는다.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532120"/>
            <a:ext cx="11109960" cy="777240"/>
          </a:xfrm>
          <a:prstGeom prst="rect">
            <a:avLst/>
          </a:prstGeom>
          <a:solidFill>
            <a:srgbClr val="F0F5FA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6B7C8E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68756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전제 — 현재 실험은 공개 한국어 영상으로 수행했다. 군 자료 적용에는 폐쇄망 구동과 도메인 재검증이 필요하다.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B7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8B7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 마무리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64008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· 배운 점 · 향후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말이 없는 장면도 찾아내는 한국어 영상 모먼트 검색 · 최종발표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536192"/>
            <a:ext cx="3584448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536192"/>
            <a:ext cx="82296" cy="420624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171907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844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확인한 것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2295144"/>
            <a:ext cx="82296" cy="82296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11" name="Text 9"/>
          <p:cNvSpPr/>
          <p:nvPr/>
        </p:nvSpPr>
        <p:spPr>
          <a:xfrm>
            <a:off x="1024128" y="217627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자연어 영상 검색 기능 구축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2715768"/>
            <a:ext cx="82296" cy="82296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13" name="Text 11"/>
          <p:cNvSpPr/>
          <p:nvPr/>
        </p:nvSpPr>
        <p:spPr>
          <a:xfrm>
            <a:off x="1024128" y="2596896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데이터·외부 데이터 모두에서 성능 개선 확인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3319272"/>
            <a:ext cx="82296" cy="82296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15" name="Text 13"/>
          <p:cNvSpPr/>
          <p:nvPr/>
        </p:nvSpPr>
        <p:spPr>
          <a:xfrm>
            <a:off x="1024128" y="32004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 없는 장면을 찾아내는 능력이 크게 좋아짐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" y="3922776"/>
            <a:ext cx="82296" cy="82296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17" name="Text 15"/>
          <p:cNvSpPr/>
          <p:nvPr/>
        </p:nvSpPr>
        <p:spPr>
          <a:xfrm>
            <a:off x="1024128" y="3803904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결과를 클릭하면 그 순간으로 바로 이동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2960" y="4526280"/>
            <a:ext cx="82296" cy="82296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19" name="Text 17"/>
          <p:cNvSpPr/>
          <p:nvPr/>
        </p:nvSpPr>
        <p:spPr>
          <a:xfrm>
            <a:off x="1024128" y="440740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영상을 직접 관찰해 전체 요약을 만드는 경로 구현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15968" y="1536192"/>
            <a:ext cx="3584448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15968" y="1536192"/>
            <a:ext cx="82296" cy="4206240"/>
          </a:xfrm>
          <a:prstGeom prst="rect">
            <a:avLst/>
          </a:prstGeom>
          <a:solidFill>
            <a:srgbClr val="2E7FA6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0" y="171907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F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배운 점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90288" y="2295144"/>
            <a:ext cx="82296" cy="82296"/>
          </a:xfrm>
          <a:prstGeom prst="ellipse">
            <a:avLst/>
          </a:prstGeom>
          <a:solidFill>
            <a:srgbClr val="2E7FA6"/>
          </a:solidFill>
          <a:ln/>
        </p:spPr>
      </p:sp>
      <p:sp>
        <p:nvSpPr>
          <p:cNvPr id="24" name="Text 22"/>
          <p:cNvSpPr/>
          <p:nvPr/>
        </p:nvSpPr>
        <p:spPr>
          <a:xfrm>
            <a:off x="4791456" y="217627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 영상은 모델 한 번 호출로 해결되지 않는다 — 나누고 다시 합치는 설계가 본체다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90288" y="3081528"/>
            <a:ext cx="82296" cy="82296"/>
          </a:xfrm>
          <a:prstGeom prst="ellipse">
            <a:avLst/>
          </a:prstGeom>
          <a:solidFill>
            <a:srgbClr val="2E7FA6"/>
          </a:solidFill>
          <a:ln/>
        </p:spPr>
      </p:sp>
      <p:sp>
        <p:nvSpPr>
          <p:cNvPr id="26" name="Text 24"/>
          <p:cNvSpPr/>
          <p:nvPr/>
        </p:nvSpPr>
        <p:spPr>
          <a:xfrm>
            <a:off x="4791456" y="2962656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검색과 전체 요약은 목적이 달라 기능을 분리해야 한다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590288" y="3685032"/>
            <a:ext cx="82296" cy="82296"/>
          </a:xfrm>
          <a:prstGeom prst="ellipse">
            <a:avLst/>
          </a:prstGeom>
          <a:solidFill>
            <a:srgbClr val="2E7FA6"/>
          </a:solidFill>
          <a:ln/>
        </p:spPr>
      </p:sp>
      <p:sp>
        <p:nvSpPr>
          <p:cNvPr id="28" name="Text 26"/>
          <p:cNvSpPr/>
          <p:nvPr/>
        </p:nvSpPr>
        <p:spPr>
          <a:xfrm>
            <a:off x="4791456" y="35661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출력은 검증 없이 정답으로 쓸 수 없다 — 장면 설명도, 보고서도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83296" y="1536192"/>
            <a:ext cx="3584448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083296" y="1536192"/>
            <a:ext cx="82296" cy="420624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1" name="Text 29"/>
          <p:cNvSpPr/>
          <p:nvPr/>
        </p:nvSpPr>
        <p:spPr>
          <a:xfrm>
            <a:off x="8339328" y="171907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향후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357616" y="2295144"/>
            <a:ext cx="82296" cy="82296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3" name="Text 31"/>
          <p:cNvSpPr/>
          <p:nvPr/>
        </p:nvSpPr>
        <p:spPr>
          <a:xfrm>
            <a:off x="8558784" y="217627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Overview 품질 개선 (활동 표현 수준·불확실성 표시)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357616" y="2898648"/>
            <a:ext cx="82296" cy="82296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5" name="Text 33"/>
          <p:cNvSpPr/>
          <p:nvPr/>
        </p:nvSpPr>
        <p:spPr>
          <a:xfrm>
            <a:off x="8558784" y="2779776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Analysis / Conclusion 생성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357616" y="3502152"/>
            <a:ext cx="82296" cy="82296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7" name="Text 35"/>
          <p:cNvSpPr/>
          <p:nvPr/>
        </p:nvSpPr>
        <p:spPr>
          <a:xfrm>
            <a:off x="8558784" y="33832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검색 근거와 보고서 주장을 자동으로 연결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8357616" y="4105656"/>
            <a:ext cx="82296" cy="82296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9" name="Text 37"/>
          <p:cNvSpPr/>
          <p:nvPr/>
        </p:nvSpPr>
        <p:spPr>
          <a:xfrm>
            <a:off x="8558784" y="3986784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최종 문서 형태로 통합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48640" y="5870448"/>
            <a:ext cx="11109960" cy="502920"/>
          </a:xfrm>
          <a:prstGeom prst="rect">
            <a:avLst/>
          </a:prstGeom>
          <a:solidFill>
            <a:srgbClr val="F0F5FA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804672" y="5943600"/>
            <a:ext cx="10652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향후 계획은 ①→④ 순서로 진행한다 — 품질 확보 없이 문서 통합으로 넘어가지 않는다.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말이 없는 장면도 찾아내는 한국어 영상 모먼트 검색 (최종발표 초안)</dc:title>
  <dc:subject>PptxGenJS Presentation</dc:subject>
  <dc:creator>PptxGenJS</dc:creator>
  <cp:lastModifiedBy>PptxGenJS</cp:lastModifiedBy>
  <cp:revision>1</cp:revision>
  <dcterms:created xsi:type="dcterms:W3CDTF">2026-09-11T00:17:04Z</dcterms:created>
  <dcterms:modified xsi:type="dcterms:W3CDTF">2026-09-11T00:17:04Z</dcterms:modified>
</cp:coreProperties>
</file>